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44" r:id="rId1"/>
  </p:sldMasterIdLst>
  <p:sldIdLst>
    <p:sldId id="256" r:id="rId2"/>
    <p:sldId id="273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0" r:id="rId11"/>
    <p:sldId id="271" r:id="rId12"/>
    <p:sldId id="275" r:id="rId13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0" orient="horz" pos="2877" userDrawn="1">
          <p15:clr>
            <a:srgbClr val="A4A3A4"/>
          </p15:clr>
        </p15:guide>
        <p15:guide id="1" pos="21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Objects="1">
      <p:cViewPr varScale="1">
        <p:scale>
          <a:sx n="48" d="100"/>
          <a:sy n="48" d="100"/>
        </p:scale>
        <p:origin x="552" y="48"/>
      </p:cViewPr>
      <p:guideLst>
        <p:guide orient="horz" pos="2877"/>
        <p:guide pos="215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59930" y="4763135"/>
            <a:ext cx="596900" cy="0"/>
          </a:xfrm>
          <a:custGeom>
            <a:avLst/>
            <a:gdLst/>
            <a:ahLst/>
            <a:cxnLst/>
            <a:rect l="l" t="t" r="r" b="b"/>
            <a:pathLst>
              <a:path w="596900">
                <a:moveTo>
                  <a:pt x="0" y="0"/>
                </a:moveTo>
                <a:lnTo>
                  <a:pt x="596840" y="0"/>
                </a:lnTo>
              </a:path>
            </a:pathLst>
          </a:custGeom>
          <a:ln w="54972">
            <a:solidFill>
              <a:srgbClr val="0C13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02955" y="4523105"/>
            <a:ext cx="235585" cy="81661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14100" y="4523105"/>
            <a:ext cx="235585" cy="81661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711555" y="4523105"/>
            <a:ext cx="266700" cy="816610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12550" y="4617720"/>
            <a:ext cx="447675" cy="5734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961380" y="4421505"/>
            <a:ext cx="8117205" cy="104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782060" y="5823585"/>
            <a:ext cx="12539980" cy="1250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140" y="10517505"/>
            <a:ext cx="6433820" cy="565785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505"/>
            <a:ext cx="4624705" cy="565785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825" y="10517505"/>
            <a:ext cx="4624705" cy="565785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0425" y="1387475"/>
            <a:ext cx="8731250" cy="1762125"/>
          </a:xfrm>
        </p:spPr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20540" y="4775835"/>
            <a:ext cx="11414760" cy="3415030"/>
          </a:xfrm>
        </p:spPr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140" y="10517505"/>
            <a:ext cx="6433820" cy="565785"/>
          </a:xfr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505"/>
            <a:ext cx="4624705" cy="565785"/>
          </a:xfr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825" y="10517505"/>
            <a:ext cx="4624705" cy="565785"/>
          </a:xfrm>
        </p:spPr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138708" y="8485344"/>
            <a:ext cx="8591550" cy="0"/>
          </a:xfrm>
          <a:custGeom>
            <a:avLst/>
            <a:gdLst/>
            <a:ahLst/>
            <a:cxnLst/>
            <a:rect l="l" t="t" r="r" b="b"/>
            <a:pathLst>
              <a:path w="8591550">
                <a:moveTo>
                  <a:pt x="0" y="0"/>
                </a:moveTo>
                <a:lnTo>
                  <a:pt x="8591362" y="0"/>
                </a:lnTo>
              </a:path>
            </a:pathLst>
          </a:custGeom>
          <a:ln w="39265">
            <a:solidFill>
              <a:srgbClr val="0F9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83974" y="8493197"/>
            <a:ext cx="8591550" cy="0"/>
          </a:xfrm>
          <a:custGeom>
            <a:avLst/>
            <a:gdLst/>
            <a:ahLst/>
            <a:cxnLst/>
            <a:rect l="l" t="t" r="r" b="b"/>
            <a:pathLst>
              <a:path w="8591550">
                <a:moveTo>
                  <a:pt x="0" y="0"/>
                </a:moveTo>
                <a:lnTo>
                  <a:pt x="8591362" y="0"/>
                </a:lnTo>
              </a:path>
            </a:pathLst>
          </a:custGeom>
          <a:ln w="39265">
            <a:solidFill>
              <a:srgbClr val="0F90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3868" y="2968495"/>
            <a:ext cx="463336" cy="61254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46890" y="3447539"/>
            <a:ext cx="1382156" cy="157063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423796" y="3439685"/>
            <a:ext cx="1429275" cy="137430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269290" y="3463245"/>
            <a:ext cx="1327184" cy="132718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60425" y="1387475"/>
            <a:ext cx="8730615" cy="17614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50" b="0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320540" y="4775835"/>
            <a:ext cx="11414125" cy="34143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140" y="10517505"/>
            <a:ext cx="6433185" cy="56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505"/>
            <a:ext cx="4624070" cy="56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825" y="10517505"/>
            <a:ext cx="4624070" cy="565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18"/>
          <p:cNvSpPr txBox="1">
            <a:spLocks noGrp="1"/>
          </p:cNvSpPr>
          <p:nvPr>
            <p:ph type="title"/>
          </p:nvPr>
        </p:nvSpPr>
        <p:spPr>
          <a:xfrm>
            <a:off x="2850515" y="2608580"/>
            <a:ext cx="15050135" cy="1399742"/>
          </a:xfrm>
          <a:prstGeom prst="rect">
            <a:avLst/>
          </a:prstGeom>
        </p:spPr>
        <p:txBody>
          <a:bodyPr vert="horz" wrap="square" lIns="0" tIns="14605" rIns="0" bIns="0" numCol="1" anchor="t">
            <a:spAutoFit/>
          </a:bodyPr>
          <a:lstStyle/>
          <a:p>
            <a:pPr marL="12700" indent="0" algn="ctr">
              <a:lnSpc>
                <a:spcPct val="100000"/>
              </a:lnSpc>
              <a:spcBef>
                <a:spcPts val="114"/>
              </a:spcBef>
              <a:buFontTx/>
              <a:buNone/>
              <a:tabLst>
                <a:tab pos="7418705" algn="l"/>
              </a:tabLst>
            </a:pPr>
            <a:r>
              <a:rPr lang="en-US" sz="9000" b="1" spc="490" dirty="0"/>
              <a:t>BST</a:t>
            </a:r>
            <a:r>
              <a:rPr lang="ko-KR" altLang="en-US" sz="9000" b="1" spc="490" dirty="0"/>
              <a:t> </a:t>
            </a:r>
            <a:r>
              <a:rPr sz="9000" b="1" spc="490" dirty="0" err="1"/>
              <a:t>학생</a:t>
            </a:r>
            <a:r>
              <a:rPr sz="9000" b="1" spc="490" dirty="0"/>
              <a:t> </a:t>
            </a:r>
            <a:r>
              <a:rPr sz="9000" b="1" spc="490" dirty="0" err="1"/>
              <a:t>정보</a:t>
            </a:r>
            <a:r>
              <a:rPr sz="9000" b="1" spc="490" dirty="0"/>
              <a:t> </a:t>
            </a:r>
            <a:r>
              <a:rPr sz="9000" b="1" spc="490" dirty="0" err="1"/>
              <a:t>관리</a:t>
            </a:r>
            <a:r>
              <a:rPr sz="9000" b="1" spc="490" dirty="0"/>
              <a:t> </a:t>
            </a:r>
            <a:r>
              <a:rPr sz="9000" b="1" spc="490" dirty="0" err="1"/>
              <a:t>시스템</a:t>
            </a:r>
            <a:endParaRPr lang="ko-KR" altLang="en-US" sz="9000" b="1" dirty="0"/>
          </a:p>
        </p:txBody>
      </p:sp>
      <p:sp>
        <p:nvSpPr>
          <p:cNvPr id="19" name="object 19"/>
          <p:cNvSpPr txBox="1"/>
          <p:nvPr/>
        </p:nvSpPr>
        <p:spPr>
          <a:xfrm>
            <a:off x="6972935" y="4968875"/>
            <a:ext cx="613410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spc="120" dirty="0">
                <a:latin typeface="Malgun Gothic"/>
                <a:cs typeface="Malgun Gothic"/>
              </a:rPr>
              <a:t>탐색</a:t>
            </a:r>
            <a:r>
              <a:rPr sz="3100" spc="-390" dirty="0">
                <a:latin typeface="Malgun Gothic"/>
                <a:cs typeface="Malgun Gothic"/>
              </a:rPr>
              <a:t> </a:t>
            </a:r>
            <a:r>
              <a:rPr sz="3100" spc="60" dirty="0">
                <a:latin typeface="Malgun Gothic"/>
                <a:cs typeface="Malgun Gothic"/>
              </a:rPr>
              <a:t>최적화</a:t>
            </a:r>
            <a:r>
              <a:rPr sz="3100" spc="-575" dirty="0">
                <a:latin typeface="Malgun Gothic"/>
                <a:cs typeface="Malgun Gothic"/>
              </a:rPr>
              <a:t> </a:t>
            </a:r>
            <a:r>
              <a:rPr sz="3100" spc="60" dirty="0">
                <a:latin typeface="Malgun Gothic"/>
                <a:cs typeface="Malgun Gothic"/>
              </a:rPr>
              <a:t>및</a:t>
            </a:r>
            <a:r>
              <a:rPr sz="3100" spc="-160" dirty="0">
                <a:latin typeface="Malgun Gothic"/>
                <a:cs typeface="Malgun Gothic"/>
              </a:rPr>
              <a:t> </a:t>
            </a:r>
            <a:r>
              <a:rPr sz="3100" spc="120" dirty="0">
                <a:latin typeface="Malgun Gothic"/>
                <a:cs typeface="Malgun Gothic"/>
              </a:rPr>
              <a:t>복합</a:t>
            </a:r>
            <a:r>
              <a:rPr sz="3100" spc="-565" dirty="0">
                <a:latin typeface="Malgun Gothic"/>
                <a:cs typeface="Malgun Gothic"/>
              </a:rPr>
              <a:t> </a:t>
            </a:r>
            <a:r>
              <a:rPr sz="3100" dirty="0">
                <a:latin typeface="Malgun Gothic"/>
                <a:cs typeface="Malgun Gothic"/>
              </a:rPr>
              <a:t>알고리즘</a:t>
            </a:r>
            <a:r>
              <a:rPr sz="3100" spc="-240" dirty="0">
                <a:latin typeface="Malgun Gothic"/>
                <a:cs typeface="Malgun Gothic"/>
              </a:rPr>
              <a:t> </a:t>
            </a:r>
            <a:r>
              <a:rPr sz="3100" spc="35" dirty="0">
                <a:latin typeface="Malgun Gothic"/>
                <a:cs typeface="Malgun Gothic"/>
              </a:rPr>
              <a:t>설계</a:t>
            </a:r>
            <a:endParaRPr sz="3100" dirty="0">
              <a:latin typeface="Malgun Gothic"/>
              <a:cs typeface="Malgun Gothic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73395" y="7864475"/>
            <a:ext cx="8957310" cy="4482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sz="2800" spc="-120" dirty="0" err="1">
                <a:latin typeface="Malgun Gothic"/>
                <a:cs typeface="Malgun Gothic"/>
              </a:rPr>
              <a:t>소프트웨어학과</a:t>
            </a:r>
            <a:r>
              <a:rPr sz="2800" spc="-235" dirty="0">
                <a:latin typeface="Malgun Gothic"/>
                <a:cs typeface="Malgun Gothic"/>
              </a:rPr>
              <a:t> </a:t>
            </a:r>
            <a:r>
              <a:rPr lang="en-US" sz="2800" spc="-235" dirty="0">
                <a:latin typeface="Malgun Gothic"/>
                <a:cs typeface="Malgun Gothic"/>
              </a:rPr>
              <a:t>2022E7415 </a:t>
            </a:r>
            <a:r>
              <a:rPr sz="2800" spc="-80" dirty="0" err="1">
                <a:latin typeface="Malgun Gothic"/>
                <a:cs typeface="Malgun Gothic"/>
              </a:rPr>
              <a:t>원종찬</a:t>
            </a:r>
            <a:r>
              <a:rPr sz="2800" spc="-80" dirty="0">
                <a:latin typeface="Malgun Gothic"/>
                <a:cs typeface="Malgun Gothic"/>
              </a:rPr>
              <a:t>,</a:t>
            </a:r>
            <a:r>
              <a:rPr sz="2800" spc="-385" dirty="0">
                <a:latin typeface="Malgun Gothic"/>
                <a:cs typeface="Malgun Gothic"/>
              </a:rPr>
              <a:t> </a:t>
            </a:r>
            <a:r>
              <a:rPr lang="en-US" sz="2800" spc="-385" dirty="0">
                <a:latin typeface="Malgun Gothic"/>
                <a:cs typeface="Malgun Gothic"/>
              </a:rPr>
              <a:t>2025E7330  </a:t>
            </a:r>
            <a:r>
              <a:rPr sz="2800" spc="-90" dirty="0">
                <a:latin typeface="Malgun Gothic"/>
                <a:cs typeface="Malgun Gothic"/>
              </a:rPr>
              <a:t>주예서</a:t>
            </a:r>
            <a:r>
              <a:rPr sz="2800" spc="-365" dirty="0">
                <a:latin typeface="Malgun Gothic"/>
                <a:cs typeface="Malgun Gothic"/>
              </a:rPr>
              <a:t> </a:t>
            </a:r>
            <a:endParaRPr lang="en-US" sz="2800" spc="-365" dirty="0">
              <a:latin typeface="Malgun Gothic"/>
              <a:cs typeface="Malgun Gothic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4442440" y="10714990"/>
            <a:ext cx="4735830" cy="2507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spc="-20" dirty="0">
                <a:latin typeface="Malgun Gothic"/>
                <a:cs typeface="Malgun Gothic"/>
              </a:rPr>
              <a:t>Won</a:t>
            </a:r>
            <a:r>
              <a:rPr sz="1550" spc="-160" dirty="0">
                <a:latin typeface="Malgun Gothic"/>
                <a:cs typeface="Malgun Gothic"/>
              </a:rPr>
              <a:t> </a:t>
            </a:r>
            <a:r>
              <a:rPr sz="1550" spc="-35" dirty="0">
                <a:latin typeface="Malgun Gothic"/>
                <a:cs typeface="Malgun Gothic"/>
              </a:rPr>
              <a:t>Jong-chan</a:t>
            </a:r>
            <a:r>
              <a:rPr sz="1550" spc="-110" dirty="0">
                <a:latin typeface="Malgun Gothic"/>
                <a:cs typeface="Malgun Gothic"/>
              </a:rPr>
              <a:t> </a:t>
            </a:r>
            <a:r>
              <a:rPr sz="1550" spc="-30" dirty="0">
                <a:latin typeface="Malgun Gothic"/>
                <a:cs typeface="Malgun Gothic"/>
              </a:rPr>
              <a:t>&amp;</a:t>
            </a:r>
            <a:r>
              <a:rPr sz="1550" spc="-95" dirty="0">
                <a:latin typeface="Malgun Gothic"/>
                <a:cs typeface="Malgun Gothic"/>
              </a:rPr>
              <a:t> </a:t>
            </a:r>
            <a:r>
              <a:rPr lang="en-US" sz="1550" spc="-20" dirty="0">
                <a:latin typeface="Malgun Gothic"/>
                <a:cs typeface="Malgun Gothic"/>
              </a:rPr>
              <a:t>Ju</a:t>
            </a:r>
            <a:r>
              <a:rPr sz="1550" spc="-114" dirty="0">
                <a:latin typeface="Malgun Gothic"/>
                <a:cs typeface="Malgun Gothic"/>
              </a:rPr>
              <a:t> </a:t>
            </a:r>
            <a:r>
              <a:rPr sz="1550" spc="-30" dirty="0">
                <a:latin typeface="Malgun Gothic"/>
                <a:cs typeface="Malgun Gothic"/>
              </a:rPr>
              <a:t>Ye-</a:t>
            </a:r>
            <a:r>
              <a:rPr sz="1550" spc="-25" dirty="0">
                <a:latin typeface="Malgun Gothic"/>
                <a:cs typeface="Malgun Gothic"/>
              </a:rPr>
              <a:t>seo</a:t>
            </a:r>
            <a:r>
              <a:rPr sz="1550" spc="-145" dirty="0">
                <a:latin typeface="Malgun Gothic"/>
                <a:cs typeface="Malgun Gothic"/>
              </a:rPr>
              <a:t> </a:t>
            </a:r>
            <a:r>
              <a:rPr sz="1550" spc="-20" dirty="0">
                <a:latin typeface="Malgun Gothic"/>
                <a:cs typeface="Malgun Gothic"/>
              </a:rPr>
              <a:t>|</a:t>
            </a:r>
            <a:r>
              <a:rPr sz="1550" spc="-160" dirty="0">
                <a:latin typeface="Malgun Gothic"/>
                <a:cs typeface="Malgun Gothic"/>
              </a:rPr>
              <a:t> </a:t>
            </a:r>
            <a:r>
              <a:rPr sz="1550" spc="55" dirty="0">
                <a:latin typeface="Malgun Gothic"/>
                <a:cs typeface="Malgun Gothic"/>
              </a:rPr>
              <a:t>Data</a:t>
            </a:r>
            <a:r>
              <a:rPr sz="1550" spc="-210" dirty="0">
                <a:latin typeface="Malgun Gothic"/>
                <a:cs typeface="Malgun Gothic"/>
              </a:rPr>
              <a:t> </a:t>
            </a:r>
            <a:r>
              <a:rPr sz="1550" spc="-25" dirty="0">
                <a:latin typeface="Malgun Gothic"/>
                <a:cs typeface="Malgun Gothic"/>
              </a:rPr>
              <a:t>Structure</a:t>
            </a:r>
            <a:r>
              <a:rPr sz="1550" spc="-175" dirty="0">
                <a:latin typeface="Malgun Gothic"/>
                <a:cs typeface="Malgun Gothic"/>
              </a:rPr>
              <a:t> </a:t>
            </a:r>
            <a:r>
              <a:rPr sz="1550" spc="-10" dirty="0">
                <a:latin typeface="Malgun Gothic"/>
                <a:cs typeface="Malgun Gothic"/>
              </a:rPr>
              <a:t>Project</a:t>
            </a:r>
            <a:endParaRPr sz="1550" dirty="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6CBCB29-F50E-0882-F8A5-21D498954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12C5D4BC-6E75-CA48-C6DC-CE310FD67FB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3078480"/>
            <a:ext cx="5748655" cy="204470"/>
          </a:xfrm>
          <a:prstGeom prst="rect">
            <a:avLst/>
          </a:prstGeom>
        </p:spPr>
      </p:pic>
      <p:pic>
        <p:nvPicPr>
          <p:cNvPr id="3" name="object 3" descr="/Users/wonjongchan/Library/Group Containers/L48J367XN4.com.infraware.PolarisOffice/EngineTemp/6689/image22.png">
            <a:extLst>
              <a:ext uri="{FF2B5EF4-FFF2-40B4-BE49-F238E27FC236}">
                <a16:creationId xmlns:a16="http://schemas.microsoft.com/office/drawing/2014/main" id="{351EA0AC-FCAD-EE89-9870-63E53EA4997E}"/>
              </a:ext>
            </a:extLst>
          </p:cNvPr>
          <p:cNvPicPr>
            <a:picLocks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5660" y="3078480"/>
            <a:ext cx="5733415" cy="205105"/>
          </a:xfrm>
          <a:prstGeom prst="rect">
            <a:avLst/>
          </a:prstGeom>
          <a:noFill/>
        </p:spPr>
      </p:pic>
      <p:pic>
        <p:nvPicPr>
          <p:cNvPr id="4" name="object 4" descr="/Users/wonjongchan/Library/Group Containers/L48J367XN4.com.infraware.PolarisOffice/EngineTemp/6689/image23.png">
            <a:extLst>
              <a:ext uri="{FF2B5EF4-FFF2-40B4-BE49-F238E27FC236}">
                <a16:creationId xmlns:a16="http://schemas.microsoft.com/office/drawing/2014/main" id="{E20FFF4F-5C08-116D-2146-65FE8DCF7E2E}"/>
              </a:ext>
            </a:extLst>
          </p:cNvPr>
          <p:cNvPicPr>
            <a:picLocks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05485" y="3078480"/>
            <a:ext cx="5749290" cy="205105"/>
          </a:xfrm>
          <a:prstGeom prst="rect">
            <a:avLst/>
          </a:prstGeom>
          <a:noFill/>
        </p:spPr>
      </p:pic>
      <p:sp>
        <p:nvSpPr>
          <p:cNvPr id="5" name="object 5" descr="$PPTXTitle">
            <a:extLst>
              <a:ext uri="{FF2B5EF4-FFF2-40B4-BE49-F238E27FC236}">
                <a16:creationId xmlns:a16="http://schemas.microsoft.com/office/drawing/2014/main" id="{87068D15-AA6F-A30C-BCFD-79E7A61775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60425" y="1387475"/>
            <a:ext cx="8731250" cy="1073371"/>
          </a:xfrm>
          <a:prstGeom prst="rect">
            <a:avLst/>
          </a:prstGeom>
        </p:spPr>
        <p:txBody>
          <a:bodyPr vert="horz" wrap="square" lIns="0" tIns="163830" rIns="0" bIns="0" numCol="1" anchor="t">
            <a:spAutoFit/>
          </a:bodyPr>
          <a:lstStyle/>
          <a:p>
            <a:pPr marL="17780" indent="0">
              <a:lnSpc>
                <a:spcPct val="100000"/>
              </a:lnSpc>
              <a:spcBef>
                <a:spcPts val="125"/>
              </a:spcBef>
              <a:buFontTx/>
              <a:buNone/>
            </a:pPr>
            <a:r>
              <a:rPr sz="5400" b="0" i="0" spc="-77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I</a:t>
            </a:r>
            <a:r>
              <a:rPr sz="5900" spc="660" dirty="0"/>
              <a:t> </a:t>
            </a:r>
            <a:r>
              <a:rPr sz="5900" spc="-80" dirty="0"/>
              <a:t>0</a:t>
            </a:r>
            <a:r>
              <a:rPr lang="en-US" sz="5900" spc="-80" dirty="0"/>
              <a:t>1 </a:t>
            </a:r>
            <a:r>
              <a:rPr lang="ko-KR" altLang="en-US" sz="5900" spc="-80" dirty="0"/>
              <a:t>프로젝트 목표</a:t>
            </a:r>
            <a:endParaRPr lang="ko-KR" altLang="en-US" sz="5900" dirty="0"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5633816-7049-79A7-706A-855485262B3F}"/>
              </a:ext>
            </a:extLst>
          </p:cNvPr>
          <p:cNvSpPr txBox="1">
            <a:spLocks/>
          </p:cNvSpPr>
          <p:nvPr/>
        </p:nvSpPr>
        <p:spPr>
          <a:xfrm>
            <a:off x="7613015" y="4892040"/>
            <a:ext cx="4534535" cy="491160"/>
          </a:xfrm>
          <a:prstGeom prst="rect">
            <a:avLst/>
          </a:prstGeom>
        </p:spPr>
        <p:txBody>
          <a:bodyPr vert="horz" wrap="square" lIns="0" tIns="13970" rIns="0" bIns="0" numCol="1" anchor="t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25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100" spc="480" dirty="0">
                <a:latin typeface="Malgun Gothic" charset="0"/>
                <a:cs typeface="Malgun Gothic" charset="0"/>
              </a:rPr>
              <a:t>Problem Definition</a:t>
            </a:r>
            <a:endParaRPr kumimoji="0" lang="ko-KR" altLang="en-US" sz="3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algun Gothic" charset="0"/>
              <a:cs typeface="Malgun Gothic" charset="0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FC6B63E7-541E-F7AC-4260-EC87F7362E2A}"/>
              </a:ext>
            </a:extLst>
          </p:cNvPr>
          <p:cNvSpPr txBox="1"/>
          <p:nvPr/>
        </p:nvSpPr>
        <p:spPr>
          <a:xfrm>
            <a:off x="13928725" y="4801235"/>
            <a:ext cx="326644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algun Gothic"/>
                <a:cs typeface="Malgun Gothic"/>
              </a:rPr>
              <a:t>Problem Analysis</a:t>
            </a:r>
            <a:endParaRPr kumimoji="0" sz="3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algun Gothic"/>
              <a:cs typeface="Malgun Gothic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141D257E-CB74-B78C-2E66-8E361892B945}"/>
              </a:ext>
            </a:extLst>
          </p:cNvPr>
          <p:cNvSpPr txBox="1">
            <a:spLocks/>
          </p:cNvSpPr>
          <p:nvPr/>
        </p:nvSpPr>
        <p:spPr>
          <a:xfrm>
            <a:off x="1487170" y="4923790"/>
            <a:ext cx="3735704" cy="492125"/>
          </a:xfrm>
          <a:prstGeom prst="rect">
            <a:avLst/>
          </a:prstGeom>
        </p:spPr>
        <p:txBody>
          <a:bodyPr vert="horz" wrap="square" lIns="0" tIns="14605" rIns="0" bIns="0" numCol="1" anchor="t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1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1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Malgun Gothic" charset="0"/>
                <a:cs typeface="Malgun Gothic" charset="0"/>
              </a:rPr>
              <a:t>Project Goal</a:t>
            </a:r>
            <a:endParaRPr kumimoji="0" lang="ko-KR" altLang="en-US" sz="31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algun Gothic" charset="0"/>
              <a:cs typeface="Malgun Gothic" charset="0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87537391-CB8E-AA8F-9EAB-62DE3ED4D055}"/>
              </a:ext>
            </a:extLst>
          </p:cNvPr>
          <p:cNvSpPr txBox="1"/>
          <p:nvPr/>
        </p:nvSpPr>
        <p:spPr>
          <a:xfrm>
            <a:off x="13926185" y="5871845"/>
            <a:ext cx="5228590" cy="2488117"/>
          </a:xfrm>
          <a:prstGeom prst="rect">
            <a:avLst/>
          </a:prstGeom>
        </p:spPr>
        <p:txBody>
          <a:bodyPr vert="horz" wrap="square" lIns="0" tIns="12065" rIns="0" bIns="0" numCol="1" anchor="t">
            <a:spAutoFit/>
          </a:bodyPr>
          <a:lstStyle/>
          <a:p>
            <a:pPr marL="27305" marR="5080" lvl="0" indent="-15240" defTabSz="914400" eaLnBrk="1" fontAlgn="auto" latinLnBrk="0" hangingPunct="1">
              <a:lnSpc>
                <a:spcPct val="12929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2550" dirty="0">
                <a:latin typeface="+mj-ea"/>
                <a:ea typeface="+mj-ea"/>
              </a:rPr>
              <a:t>기존의 순차적 정보 관리 방식은 검색 속도가 느리고 성적 분석이 비효율적이므로, 트리와 </a:t>
            </a:r>
            <a:r>
              <a:rPr lang="ko-KR" altLang="ko-KR" sz="2550" dirty="0" err="1">
                <a:latin typeface="+mj-ea"/>
                <a:ea typeface="+mj-ea"/>
              </a:rPr>
              <a:t>해시맵을</a:t>
            </a:r>
            <a:r>
              <a:rPr lang="ko-KR" altLang="ko-KR" sz="2550" dirty="0">
                <a:latin typeface="+mj-ea"/>
                <a:ea typeface="+mj-ea"/>
              </a:rPr>
              <a:t> 활용하여 데이터 관리와 검색 성능을 향상시킬 필요가 있다.</a:t>
            </a:r>
            <a:endParaRPr kumimoji="0" lang="ko-KR" altLang="en-US" sz="25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ea"/>
              <a:ea typeface="+mj-ea"/>
              <a:cs typeface="Malgun Gothic" charset="0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25DBDBA8-5C14-B828-9E52-51CFCF6E8FCF}"/>
              </a:ext>
            </a:extLst>
          </p:cNvPr>
          <p:cNvSpPr txBox="1"/>
          <p:nvPr/>
        </p:nvSpPr>
        <p:spPr>
          <a:xfrm>
            <a:off x="7689849" y="5871845"/>
            <a:ext cx="4534535" cy="2490682"/>
          </a:xfrm>
          <a:prstGeom prst="rect">
            <a:avLst/>
          </a:prstGeom>
        </p:spPr>
        <p:txBody>
          <a:bodyPr vert="horz" wrap="square" lIns="0" tIns="12065" rIns="0" bIns="0" numCol="1" anchor="t">
            <a:spAutoFit/>
          </a:bodyPr>
          <a:lstStyle/>
          <a:p>
            <a:pPr marL="12700" marR="5080" lvl="0" indent="9525" algn="just" defTabSz="914400" eaLnBrk="1" fontAlgn="auto" latinLnBrk="0" hangingPunct="1">
              <a:lnSpc>
                <a:spcPct val="129299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2550" dirty="0">
                <a:latin typeface="+mj-ea"/>
                <a:ea typeface="+mj-ea"/>
              </a:rPr>
              <a:t>학생 수가 증가함에 따라 학생 정보 검색과 성적 관리의 비효율성이 발생하여 이를 체계적으로 관리할 수 있는 시스템이 필요하다.</a:t>
            </a:r>
            <a:endParaRPr kumimoji="0" lang="ko-KR" altLang="en-US" sz="25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ea"/>
              <a:ea typeface="+mj-ea"/>
              <a:cs typeface="Malgun Gothic" charset="0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5BB627-38D0-AC9B-FBE5-C296A82C8E37}"/>
              </a:ext>
            </a:extLst>
          </p:cNvPr>
          <p:cNvSpPr txBox="1"/>
          <p:nvPr/>
        </p:nvSpPr>
        <p:spPr>
          <a:xfrm>
            <a:off x="1456054" y="5864225"/>
            <a:ext cx="5395596" cy="3187091"/>
          </a:xfrm>
          <a:prstGeom prst="rect">
            <a:avLst/>
          </a:prstGeom>
        </p:spPr>
        <p:txBody>
          <a:bodyPr vert="horz" wrap="square" lIns="0" tIns="19685" rIns="0" bIns="0" numCol="1" anchor="t">
            <a:spAutoFit/>
          </a:bodyPr>
          <a:lstStyle/>
          <a:p>
            <a:pPr marL="19685" marR="5080" lvl="0" indent="-7620" defTabSz="914400" eaLnBrk="1" fontAlgn="auto" latinLnBrk="0" hangingPunct="1">
              <a:lnSpc>
                <a:spcPct val="129299"/>
              </a:lnSpc>
              <a:spcBef>
                <a:spcPts val="15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ko-KR" sz="2550" dirty="0">
                <a:latin typeface="+mj-ea"/>
                <a:ea typeface="+mj-ea"/>
              </a:rPr>
              <a:t>트리, </a:t>
            </a:r>
            <a:r>
              <a:rPr lang="ko-KR" altLang="ko-KR" sz="2550" dirty="0" err="1">
                <a:latin typeface="+mj-ea"/>
                <a:ea typeface="+mj-ea"/>
              </a:rPr>
              <a:t>해시맵</a:t>
            </a:r>
            <a:r>
              <a:rPr lang="ko-KR" altLang="ko-KR" sz="2550" dirty="0">
                <a:latin typeface="+mj-ea"/>
                <a:ea typeface="+mj-ea"/>
              </a:rPr>
              <a:t>, 연결 리스트를 활용하여 학생 정보를 효율적으로 관리하고 성적 분석 기능을 제공하는 학생 정보 관리 시스템을 구현하는 것을 목표로 한다.</a:t>
            </a:r>
            <a:endParaRPr kumimoji="0" lang="ko-KR" altLang="en-US" sz="25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+mj-ea"/>
              <a:ea typeface="+mj-ea"/>
              <a:cs typeface="Malgun Gothic" charset="0"/>
            </a:endParaRPr>
          </a:p>
          <a:p>
            <a:pPr marL="31115" marR="0" lvl="0" indent="0" defTabSz="914400" eaLnBrk="1" fontAlgn="auto" latinLnBrk="0" hangingPunct="1">
              <a:lnSpc>
                <a:spcPct val="100000"/>
              </a:lnSpc>
              <a:spcBef>
                <a:spcPts val="251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Malgun Gothic" charset="0"/>
              <a:cs typeface="Malgun Gothic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46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9960" y="3078480"/>
            <a:ext cx="5748655" cy="204470"/>
          </a:xfrm>
          <a:prstGeom prst="rect">
            <a:avLst/>
          </a:prstGeom>
        </p:spPr>
      </p:pic>
      <p:pic>
        <p:nvPicPr>
          <p:cNvPr id="3" name="object 3" descr="/Users/wonjongchan/Library/Group Containers/L48J367XN4.com.infraware.PolarisOffice/EngineTemp/6689/image22.png"/>
          <p:cNvPicPr>
            <a:picLocks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85660" y="3078480"/>
            <a:ext cx="5733415" cy="205105"/>
          </a:xfrm>
          <a:prstGeom prst="rect">
            <a:avLst/>
          </a:prstGeom>
          <a:noFill/>
        </p:spPr>
      </p:pic>
      <p:pic>
        <p:nvPicPr>
          <p:cNvPr id="4" name="object 4" descr="/Users/wonjongchan/Library/Group Containers/L48J367XN4.com.infraware.PolarisOffice/EngineTemp/6689/image23.png"/>
          <p:cNvPicPr>
            <a:picLocks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405485" y="3078480"/>
            <a:ext cx="5749290" cy="205105"/>
          </a:xfrm>
          <a:prstGeom prst="rect">
            <a:avLst/>
          </a:prstGeom>
          <a:noFill/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860425" y="1387475"/>
            <a:ext cx="8731250" cy="1073371"/>
          </a:xfrm>
          <a:prstGeom prst="rect">
            <a:avLst/>
          </a:prstGeom>
        </p:spPr>
        <p:txBody>
          <a:bodyPr vert="horz" wrap="square" lIns="0" tIns="163830" rIns="0" bIns="0" numCol="1" anchor="t">
            <a:spAutoFit/>
          </a:bodyPr>
          <a:lstStyle/>
          <a:p>
            <a:pPr marL="17780" indent="0">
              <a:lnSpc>
                <a:spcPct val="100000"/>
              </a:lnSpc>
              <a:spcBef>
                <a:spcPts val="125"/>
              </a:spcBef>
              <a:buFontTx/>
              <a:buNone/>
            </a:pPr>
            <a:r>
              <a:rPr sz="5400" b="0" i="0" spc="-77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I</a:t>
            </a:r>
            <a:r>
              <a:rPr sz="5900" spc="660" dirty="0"/>
              <a:t> </a:t>
            </a:r>
            <a:r>
              <a:rPr sz="5900" spc="-80" dirty="0"/>
              <a:t>0</a:t>
            </a:r>
            <a:r>
              <a:rPr lang="en-US" sz="5900" spc="-80" dirty="0"/>
              <a:t>2 </a:t>
            </a:r>
            <a:r>
              <a:rPr sz="5900" spc="-80" dirty="0" err="1"/>
              <a:t>자료구조</a:t>
            </a:r>
            <a:r>
              <a:rPr sz="5900" spc="-80" dirty="0"/>
              <a:t> </a:t>
            </a:r>
            <a:r>
              <a:rPr sz="5900" spc="-80" dirty="0" err="1"/>
              <a:t>설계</a:t>
            </a:r>
            <a:endParaRPr lang="ko-KR" altLang="en-US" sz="5900" dirty="0"/>
          </a:p>
        </p:txBody>
      </p:sp>
      <p:sp>
        <p:nvSpPr>
          <p:cNvPr id="8" name="object 8"/>
          <p:cNvSpPr txBox="1">
            <a:spLocks/>
          </p:cNvSpPr>
          <p:nvPr/>
        </p:nvSpPr>
        <p:spPr>
          <a:xfrm>
            <a:off x="7613015" y="4892040"/>
            <a:ext cx="3630295" cy="491490"/>
          </a:xfrm>
          <a:prstGeom prst="rect">
            <a:avLst/>
          </a:prstGeom>
        </p:spPr>
        <p:txBody>
          <a:bodyPr vert="horz" wrap="square" lIns="0" tIns="13970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2555"/>
              </a:spcBef>
              <a:buFontTx/>
              <a:buNone/>
            </a:pPr>
            <a:r>
              <a:rPr sz="3100" spc="480">
                <a:latin typeface="Malgun Gothic" charset="0"/>
                <a:cs typeface="Malgun Gothic" charset="0"/>
              </a:rPr>
              <a:t>Binary</a:t>
            </a:r>
            <a:r>
              <a:rPr sz="3100" spc="-320">
                <a:latin typeface="Malgun Gothic" charset="0"/>
                <a:cs typeface="Malgun Gothic" charset="0"/>
              </a:rPr>
              <a:t> </a:t>
            </a:r>
            <a:r>
              <a:rPr sz="3100" spc="520">
                <a:latin typeface="Malgun Gothic" charset="0"/>
                <a:cs typeface="Malgun Gothic" charset="0"/>
              </a:rPr>
              <a:t>Search</a:t>
            </a:r>
            <a:endParaRPr lang="ko-KR" altLang="en-US" sz="3100">
              <a:latin typeface="Malgun Gothic" charset="0"/>
              <a:cs typeface="Malgun Gothic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928725" y="4801235"/>
            <a:ext cx="3266440" cy="497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3100" spc="185" dirty="0">
                <a:latin typeface="Malgun Gothic"/>
                <a:cs typeface="Malgun Gothic"/>
              </a:rPr>
              <a:t>Recursive</a:t>
            </a:r>
            <a:r>
              <a:rPr sz="3100" spc="-484" dirty="0">
                <a:latin typeface="Malgun Gothic"/>
                <a:cs typeface="Malgun Gothic"/>
              </a:rPr>
              <a:t> </a:t>
            </a:r>
            <a:r>
              <a:rPr sz="3100" spc="200" dirty="0">
                <a:latin typeface="Malgun Gothic"/>
                <a:cs typeface="Malgun Gothic"/>
              </a:rPr>
              <a:t>Binary</a:t>
            </a:r>
            <a:endParaRPr sz="3100">
              <a:latin typeface="Malgun Gothic"/>
              <a:cs typeface="Malgun Gothic"/>
            </a:endParaRPr>
          </a:p>
        </p:txBody>
      </p:sp>
      <p:sp>
        <p:nvSpPr>
          <p:cNvPr id="11" name="object 11"/>
          <p:cNvSpPr txBox="1">
            <a:spLocks/>
          </p:cNvSpPr>
          <p:nvPr/>
        </p:nvSpPr>
        <p:spPr>
          <a:xfrm>
            <a:off x="1487170" y="4923790"/>
            <a:ext cx="3735704" cy="492125"/>
          </a:xfrm>
          <a:prstGeom prst="rect">
            <a:avLst/>
          </a:prstGeom>
        </p:spPr>
        <p:txBody>
          <a:bodyPr vert="horz" wrap="square" lIns="0" tIns="1460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14"/>
              </a:spcBef>
              <a:buFontTx/>
              <a:buNone/>
            </a:pPr>
            <a:r>
              <a:rPr sz="3100" spc="520">
                <a:latin typeface="Malgun Gothic" charset="0"/>
                <a:cs typeface="Malgun Gothic" charset="0"/>
              </a:rPr>
              <a:t>Linear</a:t>
            </a:r>
            <a:r>
              <a:rPr sz="3100" spc="-180">
                <a:latin typeface="Malgun Gothic" charset="0"/>
                <a:cs typeface="Malgun Gothic" charset="0"/>
              </a:rPr>
              <a:t> </a:t>
            </a:r>
            <a:r>
              <a:rPr sz="3100" spc="630">
                <a:latin typeface="Malgun Gothic" charset="0"/>
                <a:cs typeface="Malgun Gothic" charset="0"/>
              </a:rPr>
              <a:t>Sea</a:t>
            </a:r>
            <a:r>
              <a:rPr sz="3100" spc="-570">
                <a:latin typeface="Malgun Gothic" charset="0"/>
                <a:cs typeface="Malgun Gothic" charset="0"/>
              </a:rPr>
              <a:t> </a:t>
            </a:r>
            <a:r>
              <a:rPr sz="3100" spc="530">
                <a:latin typeface="Malgun Gothic" charset="0"/>
                <a:cs typeface="Malgun Gothic" charset="0"/>
              </a:rPr>
              <a:t>rch</a:t>
            </a:r>
            <a:endParaRPr lang="ko-KR" altLang="en-US" sz="3100">
              <a:latin typeface="Malgun Gothic" charset="0"/>
              <a:cs typeface="Malgun Gothic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926185" y="5871845"/>
            <a:ext cx="4688205" cy="2169160"/>
          </a:xfrm>
          <a:prstGeom prst="rect">
            <a:avLst/>
          </a:prstGeom>
        </p:spPr>
        <p:txBody>
          <a:bodyPr vert="horz" wrap="square" lIns="0" tIns="12065" rIns="0" bIns="0" numCol="1" anchor="t">
            <a:spAutoFit/>
          </a:bodyPr>
          <a:lstStyle/>
          <a:p>
            <a:pPr marL="27305" marR="5080" indent="-15240">
              <a:lnSpc>
                <a:spcPct val="129299"/>
              </a:lnSpc>
              <a:spcBef>
                <a:spcPts val="95"/>
              </a:spcBef>
              <a:buFontTx/>
              <a:buNone/>
            </a:pPr>
            <a:r>
              <a:rPr sz="2550" spc="50" dirty="0" err="1">
                <a:latin typeface="Malgun Gothic" charset="0"/>
                <a:cs typeface="Malgun Gothic" charset="0"/>
              </a:rPr>
              <a:t>재귀</a:t>
            </a:r>
            <a:r>
              <a:rPr lang="en-US" sz="2550" spc="50" dirty="0">
                <a:latin typeface="Malgun Gothic" charset="0"/>
                <a:cs typeface="Malgun Gothic" charset="0"/>
              </a:rPr>
              <a:t> </a:t>
            </a:r>
            <a:r>
              <a:rPr sz="2550" spc="50" dirty="0" err="1">
                <a:latin typeface="Malgun Gothic" charset="0"/>
                <a:cs typeface="Malgun Gothic" charset="0"/>
              </a:rPr>
              <a:t>호출</a:t>
            </a:r>
            <a:r>
              <a:rPr sz="2550" spc="-340" dirty="0">
                <a:latin typeface="Malgun Gothic" charset="0"/>
                <a:cs typeface="Malgun Gothic" charset="0"/>
              </a:rPr>
              <a:t> </a:t>
            </a:r>
            <a:r>
              <a:rPr sz="2550" spc="-130" dirty="0" err="1">
                <a:latin typeface="Malgun Gothic" charset="0"/>
                <a:cs typeface="Malgun Gothic" charset="0"/>
              </a:rPr>
              <a:t>방식의</a:t>
            </a:r>
            <a:r>
              <a:rPr lang="en-US" sz="2550" spc="-30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이진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탐색</a:t>
            </a:r>
            <a:r>
              <a:rPr sz="2550" dirty="0">
                <a:latin typeface="Malgun Gothic" charset="0"/>
                <a:cs typeface="Malgun Gothic" charset="0"/>
              </a:rPr>
              <a:t>.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분할</a:t>
            </a:r>
            <a:r>
              <a:rPr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정복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논리를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코드로</a:t>
            </a:r>
            <a:r>
              <a:rPr sz="2550" spc="10" dirty="0">
                <a:latin typeface="Malgun Gothic" charset="0"/>
                <a:cs typeface="Malgun Gothic" charset="0"/>
              </a:rPr>
              <a:t> </a:t>
            </a:r>
            <a:r>
              <a:rPr sz="2550" spc="-150" dirty="0" err="1">
                <a:latin typeface="Malgun Gothic" charset="0"/>
                <a:cs typeface="Malgun Gothic" charset="0"/>
              </a:rPr>
              <a:t>우아하게</a:t>
            </a:r>
            <a:r>
              <a:rPr sz="2550" spc="-190" dirty="0">
                <a:latin typeface="Malgun Gothic" charset="0"/>
                <a:cs typeface="Malgun Gothic" charset="0"/>
              </a:rPr>
              <a:t> </a:t>
            </a:r>
            <a:r>
              <a:rPr sz="2550" spc="-70" dirty="0" err="1">
                <a:latin typeface="Malgun Gothic" charset="0"/>
                <a:cs typeface="Malgun Gothic" charset="0"/>
              </a:rPr>
              <a:t>구현</a:t>
            </a:r>
            <a:r>
              <a:rPr sz="2550" dirty="0" err="1">
                <a:latin typeface="Malgun Gothic" charset="0"/>
                <a:cs typeface="Malgun Gothic" charset="0"/>
              </a:rPr>
              <a:t>한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심화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모듈입니다</a:t>
            </a:r>
            <a:r>
              <a:rPr sz="2550" dirty="0">
                <a:latin typeface="Malgun Gothic" charset="0"/>
                <a:cs typeface="Malgun Gothic" charset="0"/>
              </a:rPr>
              <a:t>.</a:t>
            </a:r>
            <a:endParaRPr lang="ko-KR" altLang="en-US" sz="2550" dirty="0">
              <a:latin typeface="Malgun Gothic" charset="0"/>
              <a:cs typeface="Malgun Gothic" charset="0"/>
            </a:endParaRPr>
          </a:p>
          <a:p>
            <a:pPr marL="24130" indent="0">
              <a:lnSpc>
                <a:spcPct val="100000"/>
              </a:lnSpc>
              <a:spcBef>
                <a:spcPts val="2510"/>
              </a:spcBef>
              <a:buFontTx/>
              <a:buNone/>
            </a:pPr>
            <a:r>
              <a:rPr sz="2050" spc="-10" dirty="0" err="1">
                <a:latin typeface="Malgun Gothic" charset="0"/>
                <a:cs typeface="Malgun Gothic" charset="0"/>
              </a:rPr>
              <a:t>시간</a:t>
            </a:r>
            <a:r>
              <a:rPr sz="2050" spc="-10" dirty="0">
                <a:latin typeface="Malgun Gothic" charset="0"/>
                <a:cs typeface="Malgun Gothic" charset="0"/>
              </a:rPr>
              <a:t> </a:t>
            </a:r>
            <a:r>
              <a:rPr sz="2050" spc="-10" dirty="0" err="1">
                <a:latin typeface="Malgun Gothic" charset="0"/>
                <a:cs typeface="Malgun Gothic" charset="0"/>
              </a:rPr>
              <a:t>복잡도</a:t>
            </a:r>
            <a:r>
              <a:rPr sz="2050" spc="-10" dirty="0">
                <a:latin typeface="Malgun Gothic" charset="0"/>
                <a:cs typeface="Malgun Gothic" charset="0"/>
              </a:rPr>
              <a:t>:</a:t>
            </a:r>
            <a:r>
              <a:rPr sz="2050" spc="-240" dirty="0">
                <a:latin typeface="Malgun Gothic" charset="0"/>
                <a:cs typeface="Malgun Gothic" charset="0"/>
              </a:rPr>
              <a:t> </a:t>
            </a:r>
            <a:r>
              <a:rPr sz="2050" dirty="0">
                <a:latin typeface="Malgun Gothic" charset="0"/>
                <a:cs typeface="Malgun Gothic" charset="0"/>
              </a:rPr>
              <a:t>O(</a:t>
            </a:r>
            <a:r>
              <a:rPr sz="2050" dirty="0" err="1">
                <a:latin typeface="Malgun Gothic" charset="0"/>
                <a:cs typeface="Malgun Gothic" charset="0"/>
              </a:rPr>
              <a:t>logn</a:t>
            </a:r>
            <a:r>
              <a:rPr sz="2050" dirty="0">
                <a:latin typeface="Malgun Gothic" charset="0"/>
                <a:cs typeface="Malgun Gothic" charset="0"/>
              </a:rPr>
              <a:t>)</a:t>
            </a:r>
            <a:endParaRPr lang="ko-KR" altLang="en-US" sz="2050" dirty="0">
              <a:latin typeface="Malgun Gothic" charset="0"/>
              <a:cs typeface="Malgun Gothic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689849" y="5871845"/>
            <a:ext cx="4534535" cy="2169160"/>
          </a:xfrm>
          <a:prstGeom prst="rect">
            <a:avLst/>
          </a:prstGeom>
        </p:spPr>
        <p:txBody>
          <a:bodyPr vert="horz" wrap="square" lIns="0" tIns="12065" rIns="0" bIns="0" numCol="1" anchor="t">
            <a:spAutoFit/>
          </a:bodyPr>
          <a:lstStyle/>
          <a:p>
            <a:pPr marL="12700" marR="5080" indent="9525" algn="just">
              <a:lnSpc>
                <a:spcPct val="129299"/>
              </a:lnSpc>
              <a:spcBef>
                <a:spcPts val="95"/>
              </a:spcBef>
              <a:buFontTx/>
              <a:buNone/>
            </a:pPr>
            <a:r>
              <a:rPr sz="2550" spc="110" dirty="0" err="1">
                <a:latin typeface="Malgun Gothic" charset="0"/>
                <a:cs typeface="Malgun Gothic" charset="0"/>
              </a:rPr>
              <a:t>반복문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기반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이진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탐색</a:t>
            </a:r>
            <a:r>
              <a:rPr sz="2550" spc="110" dirty="0">
                <a:latin typeface="Malgun Gothic" charset="0"/>
                <a:cs typeface="Malgun Gothic" charset="0"/>
              </a:rPr>
              <a:t>.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정렬데이</a:t>
            </a:r>
            <a:r>
              <a:rPr sz="2550" dirty="0" err="1">
                <a:latin typeface="Malgun Gothic" charset="0"/>
                <a:cs typeface="Malgun Gothic" charset="0"/>
              </a:rPr>
              <a:t>터에서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범위를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>
                <a:latin typeface="Malgun Gothic" charset="0"/>
                <a:cs typeface="Malgun Gothic" charset="0"/>
              </a:rPr>
              <a:t>1/2씩</a:t>
            </a:r>
            <a:r>
              <a:rPr sz="2550" spc="19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좁히는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고속</a:t>
            </a:r>
            <a:r>
              <a:rPr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탐색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엔진입니다</a:t>
            </a:r>
            <a:r>
              <a:rPr sz="2550" dirty="0">
                <a:latin typeface="Malgun Gothic" charset="0"/>
                <a:cs typeface="Malgun Gothic" charset="0"/>
              </a:rPr>
              <a:t>.</a:t>
            </a:r>
            <a:endParaRPr lang="ko-KR" altLang="en-US" sz="2550" dirty="0">
              <a:latin typeface="Malgun Gothic" charset="0"/>
              <a:cs typeface="Malgun Gothic" charset="0"/>
            </a:endParaRPr>
          </a:p>
          <a:p>
            <a:pPr marL="24765" indent="0" algn="just">
              <a:lnSpc>
                <a:spcPct val="100000"/>
              </a:lnSpc>
              <a:spcBef>
                <a:spcPts val="2510"/>
              </a:spcBef>
              <a:buFontTx/>
              <a:buNone/>
            </a:pPr>
            <a:r>
              <a:rPr sz="2050" spc="-10" dirty="0" err="1">
                <a:latin typeface="Malgun Gothic" charset="0"/>
                <a:cs typeface="Malgun Gothic" charset="0"/>
              </a:rPr>
              <a:t>시간</a:t>
            </a:r>
            <a:r>
              <a:rPr sz="2050" spc="-10" dirty="0">
                <a:latin typeface="Malgun Gothic" charset="0"/>
                <a:cs typeface="Malgun Gothic" charset="0"/>
              </a:rPr>
              <a:t> </a:t>
            </a:r>
            <a:r>
              <a:rPr sz="2050" spc="-10" dirty="0" err="1">
                <a:latin typeface="Malgun Gothic" charset="0"/>
                <a:cs typeface="Malgun Gothic" charset="0"/>
              </a:rPr>
              <a:t>복잡도</a:t>
            </a:r>
            <a:r>
              <a:rPr sz="2050" spc="-10" dirty="0">
                <a:latin typeface="Malgun Gothic" charset="0"/>
                <a:cs typeface="Malgun Gothic" charset="0"/>
              </a:rPr>
              <a:t>:</a:t>
            </a:r>
            <a:r>
              <a:rPr sz="2050" spc="-240" dirty="0">
                <a:latin typeface="Malgun Gothic" charset="0"/>
                <a:cs typeface="Malgun Gothic" charset="0"/>
              </a:rPr>
              <a:t> </a:t>
            </a:r>
            <a:r>
              <a:rPr sz="2050" dirty="0">
                <a:latin typeface="Malgun Gothic" charset="0"/>
                <a:cs typeface="Malgun Gothic" charset="0"/>
              </a:rPr>
              <a:t>O(</a:t>
            </a:r>
            <a:r>
              <a:rPr sz="2050" dirty="0" err="1">
                <a:latin typeface="Malgun Gothic" charset="0"/>
                <a:cs typeface="Malgun Gothic" charset="0"/>
              </a:rPr>
              <a:t>logn</a:t>
            </a:r>
            <a:r>
              <a:rPr sz="2050" dirty="0">
                <a:latin typeface="Malgun Gothic" charset="0"/>
                <a:cs typeface="Malgun Gothic" charset="0"/>
              </a:rPr>
              <a:t>)</a:t>
            </a:r>
            <a:endParaRPr lang="ko-KR" altLang="en-US" sz="2050" dirty="0">
              <a:latin typeface="Malgun Gothic" charset="0"/>
              <a:cs typeface="Malgun Gothic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456054" y="5864225"/>
            <a:ext cx="5014595" cy="2174634"/>
          </a:xfrm>
          <a:prstGeom prst="rect">
            <a:avLst/>
          </a:prstGeom>
        </p:spPr>
        <p:txBody>
          <a:bodyPr vert="horz" wrap="square" lIns="0" tIns="19685" rIns="0" bIns="0" numCol="1" anchor="t">
            <a:spAutoFit/>
          </a:bodyPr>
          <a:lstStyle/>
          <a:p>
            <a:pPr marL="19685" marR="5080" indent="-7620">
              <a:lnSpc>
                <a:spcPct val="129299"/>
              </a:lnSpc>
              <a:spcBef>
                <a:spcPts val="155"/>
              </a:spcBef>
              <a:buFontTx/>
              <a:buNone/>
            </a:pPr>
            <a:r>
              <a:rPr sz="2550" spc="40" dirty="0" err="1">
                <a:latin typeface="Malgun Gothic" charset="0"/>
                <a:cs typeface="Malgun Gothic" charset="0"/>
              </a:rPr>
              <a:t>배열의</a:t>
            </a:r>
            <a:r>
              <a:rPr lang="en-US" sz="2550" spc="40" dirty="0">
                <a:latin typeface="Malgun Gothic" charset="0"/>
                <a:cs typeface="Malgun Gothic" charset="0"/>
              </a:rPr>
              <a:t> </a:t>
            </a:r>
            <a:r>
              <a:rPr sz="2550" spc="40" dirty="0" err="1">
                <a:latin typeface="Malgun Gothic" charset="0"/>
                <a:cs typeface="Malgun Gothic" charset="0"/>
              </a:rPr>
              <a:t>처음부터</a:t>
            </a:r>
            <a:r>
              <a:rPr lang="en-US" sz="2550" spc="40" dirty="0">
                <a:latin typeface="Malgun Gothic" charset="0"/>
                <a:cs typeface="Malgun Gothic" charset="0"/>
              </a:rPr>
              <a:t> </a:t>
            </a:r>
            <a:r>
              <a:rPr sz="2550" spc="40" dirty="0" err="1">
                <a:latin typeface="Malgun Gothic" charset="0"/>
                <a:cs typeface="Malgun Gothic" charset="0"/>
              </a:rPr>
              <a:t>순차적으로</a:t>
            </a:r>
            <a:r>
              <a:rPr lang="en-US" sz="2550" spc="40" dirty="0">
                <a:latin typeface="Malgun Gothic" charset="0"/>
                <a:cs typeface="Malgun Gothic" charset="0"/>
              </a:rPr>
              <a:t> </a:t>
            </a:r>
            <a:r>
              <a:rPr sz="2550" spc="40" dirty="0" err="1">
                <a:latin typeface="Malgun Gothic" charset="0"/>
                <a:cs typeface="Malgun Gothic" charset="0"/>
              </a:rPr>
              <a:t>비교</a:t>
            </a:r>
            <a:r>
              <a:rPr sz="2550" spc="110" dirty="0" err="1">
                <a:latin typeface="Malgun Gothic" charset="0"/>
                <a:cs typeface="Malgun Gothic" charset="0"/>
              </a:rPr>
              <a:t>하는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기본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모듈</a:t>
            </a:r>
            <a:r>
              <a:rPr sz="2550" spc="110" dirty="0">
                <a:latin typeface="Malgun Gothic" charset="0"/>
                <a:cs typeface="Malgun Gothic" charset="0"/>
              </a:rPr>
              <a:t>.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정렬되지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않은</a:t>
            </a:r>
            <a:r>
              <a:rPr lang="en-US" sz="2550" spc="110" dirty="0">
                <a:latin typeface="Malgun Gothic" charset="0"/>
                <a:cs typeface="Malgun Gothic" charset="0"/>
              </a:rPr>
              <a:t> </a:t>
            </a:r>
            <a:r>
              <a:rPr sz="2550" spc="110" dirty="0" err="1">
                <a:latin typeface="Malgun Gothic" charset="0"/>
                <a:cs typeface="Malgun Gothic" charset="0"/>
              </a:rPr>
              <a:t>데</a:t>
            </a:r>
            <a:r>
              <a:rPr sz="2550" spc="-130" dirty="0" err="1">
                <a:latin typeface="Malgun Gothic" charset="0"/>
                <a:cs typeface="Malgun Gothic" charset="0"/>
              </a:rPr>
              <a:t>이터셋</a:t>
            </a:r>
            <a:r>
              <a:rPr lang="en-US" sz="2550" spc="-33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탐색을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지원합니다</a:t>
            </a:r>
            <a:r>
              <a:rPr sz="2550" dirty="0">
                <a:latin typeface="Malgun Gothic" charset="0"/>
                <a:cs typeface="Malgun Gothic" charset="0"/>
              </a:rPr>
              <a:t>.</a:t>
            </a:r>
            <a:endParaRPr lang="ko-KR" altLang="en-US" sz="2550" dirty="0">
              <a:latin typeface="Malgun Gothic" charset="0"/>
              <a:cs typeface="Malgun Gothic" charset="0"/>
            </a:endParaRPr>
          </a:p>
          <a:p>
            <a:pPr marL="31115" indent="0">
              <a:lnSpc>
                <a:spcPct val="100000"/>
              </a:lnSpc>
              <a:spcBef>
                <a:spcPts val="2510"/>
              </a:spcBef>
              <a:buFontTx/>
              <a:buNone/>
            </a:pPr>
            <a:r>
              <a:rPr sz="2050" spc="-10" dirty="0" err="1">
                <a:latin typeface="Malgun Gothic" charset="0"/>
                <a:cs typeface="Malgun Gothic" charset="0"/>
              </a:rPr>
              <a:t>시간복잡도</a:t>
            </a:r>
            <a:r>
              <a:rPr sz="2050" spc="-10" dirty="0">
                <a:latin typeface="Malgun Gothic" charset="0"/>
                <a:cs typeface="Malgun Gothic" charset="0"/>
              </a:rPr>
              <a:t>:</a:t>
            </a:r>
            <a:r>
              <a:rPr sz="2050" spc="-240" dirty="0">
                <a:latin typeface="Malgun Gothic" charset="0"/>
                <a:cs typeface="Malgun Gothic" charset="0"/>
              </a:rPr>
              <a:t> </a:t>
            </a:r>
            <a:r>
              <a:rPr sz="2050" spc="-10" dirty="0">
                <a:latin typeface="Malgun Gothic" charset="0"/>
                <a:cs typeface="Malgun Gothic" charset="0"/>
              </a:rPr>
              <a:t>O(n)</a:t>
            </a:r>
            <a:endParaRPr lang="ko-KR" altLang="en-US" sz="2050" dirty="0">
              <a:latin typeface="Malgun Gothic" charset="0"/>
              <a:cs typeface="Malgun Gothic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/Users/wonjongchan/Library/Group Containers/L48J367XN4.com.infraware.PolarisOffice/EngineTemp/6689/fImage32151864189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990" y="3521710"/>
            <a:ext cx="1378585" cy="222885"/>
          </a:xfrm>
          <a:prstGeom prst="rect">
            <a:avLst/>
          </a:prstGeom>
          <a:noFill/>
        </p:spPr>
      </p:pic>
      <p:sp>
        <p:nvSpPr>
          <p:cNvPr id="4" name="텍스트 상자 3"/>
          <p:cNvSpPr txBox="1">
            <a:spLocks/>
          </p:cNvSpPr>
          <p:nvPr/>
        </p:nvSpPr>
        <p:spPr>
          <a:xfrm>
            <a:off x="4290060" y="4508500"/>
            <a:ext cx="11691620" cy="16313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ctr" hangingPunct="1"/>
            <a:r>
              <a:rPr sz="10000" b="1">
                <a:latin typeface="나눔명조 에코" charset="0"/>
                <a:ea typeface="나눔명조 에코" charset="0"/>
              </a:rPr>
              <a:t>알고리즘 설명</a:t>
            </a:r>
            <a:endParaRPr lang="ko-KR" altLang="en-US" sz="10000" b="1">
              <a:latin typeface="나눔명조 에코" charset="0"/>
              <a:ea typeface="나눔명조 에코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860425" y="1387475"/>
            <a:ext cx="10091420" cy="1433830"/>
          </a:xfrm>
          <a:prstGeom prst="rect">
            <a:avLst/>
          </a:prstGeom>
        </p:spPr>
        <p:txBody>
          <a:bodyPr vert="horz" wrap="square" lIns="0" tIns="525780" rIns="0" bIns="0" numCol="1" anchor="t">
            <a:spAutoFit/>
          </a:bodyPr>
          <a:lstStyle/>
          <a:p>
            <a:pPr marL="15875" indent="0">
              <a:lnSpc>
                <a:spcPct val="100000"/>
              </a:lnSpc>
              <a:spcBef>
                <a:spcPts val="110"/>
              </a:spcBef>
              <a:buFontTx/>
              <a:buNone/>
            </a:pPr>
            <a:r>
              <a:rPr sz="5900" spc="-770" dirty="0"/>
              <a:t>I</a:t>
            </a:r>
            <a:r>
              <a:rPr sz="5900" spc="-130" dirty="0"/>
              <a:t>  </a:t>
            </a:r>
            <a:r>
              <a:rPr sz="5900" spc="-160" dirty="0" err="1"/>
              <a:t>순차</a:t>
            </a:r>
            <a:r>
              <a:rPr sz="5900" spc="-1060" dirty="0"/>
              <a:t> </a:t>
            </a:r>
            <a:r>
              <a:rPr sz="5900" dirty="0" err="1"/>
              <a:t>탐색</a:t>
            </a:r>
            <a:r>
              <a:rPr sz="5900" dirty="0"/>
              <a:t>:</a:t>
            </a:r>
            <a:r>
              <a:rPr sz="5900" spc="-770" dirty="0"/>
              <a:t> </a:t>
            </a:r>
            <a:r>
              <a:rPr sz="5900" spc="310" dirty="0"/>
              <a:t>Linear</a:t>
            </a:r>
            <a:r>
              <a:rPr sz="5900" spc="-640" dirty="0"/>
              <a:t> </a:t>
            </a:r>
            <a:r>
              <a:rPr sz="5900" spc="420" dirty="0"/>
              <a:t>Search</a:t>
            </a:r>
            <a:endParaRPr lang="ko-KR" altLang="en-US" sz="5900" dirty="0"/>
          </a:p>
        </p:txBody>
      </p:sp>
      <p:sp>
        <p:nvSpPr>
          <p:cNvPr id="12" name="object 12"/>
          <p:cNvSpPr txBox="1"/>
          <p:nvPr/>
        </p:nvSpPr>
        <p:spPr>
          <a:xfrm>
            <a:off x="899160" y="3564255"/>
            <a:ext cx="9457690" cy="25152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7305">
              <a:lnSpc>
                <a:spcPct val="100000"/>
              </a:lnSpc>
              <a:spcBef>
                <a:spcPts val="114"/>
              </a:spcBef>
            </a:pPr>
            <a:r>
              <a:rPr sz="2300" spc="65" dirty="0">
                <a:latin typeface="Malgun Gothic"/>
                <a:cs typeface="Malgun Gothic"/>
              </a:rPr>
              <a:t>단순</a:t>
            </a:r>
            <a:r>
              <a:rPr sz="2300" spc="-305" dirty="0">
                <a:latin typeface="Malgun Gothic"/>
                <a:cs typeface="Malgun Gothic"/>
              </a:rPr>
              <a:t> </a:t>
            </a:r>
            <a:r>
              <a:rPr sz="2300" dirty="0">
                <a:latin typeface="Malgun Gothic"/>
                <a:cs typeface="Malgun Gothic"/>
              </a:rPr>
              <a:t>전수</a:t>
            </a:r>
            <a:r>
              <a:rPr sz="2300" spc="-260" dirty="0">
                <a:latin typeface="Malgun Gothic"/>
                <a:cs typeface="Malgun Gothic"/>
              </a:rPr>
              <a:t> </a:t>
            </a:r>
            <a:r>
              <a:rPr sz="2300" dirty="0">
                <a:latin typeface="Malgun Gothic"/>
                <a:cs typeface="Malgun Gothic"/>
              </a:rPr>
              <a:t>조사의</a:t>
            </a:r>
            <a:r>
              <a:rPr sz="2300" spc="-204" dirty="0">
                <a:latin typeface="Malgun Gothic"/>
                <a:cs typeface="Malgun Gothic"/>
              </a:rPr>
              <a:t> </a:t>
            </a:r>
            <a:r>
              <a:rPr sz="2300" spc="-25" dirty="0">
                <a:latin typeface="Malgun Gothic"/>
                <a:cs typeface="Malgun Gothic"/>
              </a:rPr>
              <a:t>유연성</a:t>
            </a:r>
            <a:endParaRPr sz="2300" dirty="0">
              <a:latin typeface="Malgun Gothic"/>
              <a:cs typeface="Malgun Gothic"/>
            </a:endParaRPr>
          </a:p>
          <a:p>
            <a:pPr marL="40005" marR="5080" indent="-27940">
              <a:lnSpc>
                <a:spcPct val="129299"/>
              </a:lnSpc>
              <a:spcBef>
                <a:spcPts val="2525"/>
              </a:spcBef>
            </a:pPr>
            <a:r>
              <a:rPr sz="2550" spc="-10" dirty="0" err="1">
                <a:latin typeface="Malgun Gothic"/>
                <a:cs typeface="Malgun Gothic"/>
              </a:rPr>
              <a:t>데이터가</a:t>
            </a:r>
            <a:r>
              <a:rPr lang="en-US" sz="2550" spc="-10" dirty="0">
                <a:latin typeface="Malgun Gothic"/>
                <a:cs typeface="Malgun Gothic"/>
              </a:rPr>
              <a:t> </a:t>
            </a:r>
            <a:r>
              <a:rPr sz="2550" spc="-10" dirty="0" err="1">
                <a:latin typeface="Malgun Gothic"/>
                <a:cs typeface="Malgun Gothic"/>
              </a:rPr>
              <a:t>정렬되지</a:t>
            </a:r>
            <a:r>
              <a:rPr sz="2550" spc="-25" dirty="0">
                <a:latin typeface="Malgun Gothic"/>
                <a:cs typeface="Malgun Gothic"/>
              </a:rPr>
              <a:t> </a:t>
            </a:r>
            <a:r>
              <a:rPr sz="2550" dirty="0" err="1">
                <a:latin typeface="Malgun Gothic"/>
                <a:cs typeface="Malgun Gothic"/>
              </a:rPr>
              <a:t>않은</a:t>
            </a:r>
            <a:r>
              <a:rPr lang="en-US" sz="2550" dirty="0">
                <a:latin typeface="Malgun Gothic"/>
                <a:cs typeface="Malgun Gothic"/>
              </a:rPr>
              <a:t> </a:t>
            </a:r>
            <a:r>
              <a:rPr sz="2550" dirty="0" err="1">
                <a:latin typeface="Malgun Gothic"/>
                <a:cs typeface="Malgun Gothic"/>
              </a:rPr>
              <a:t>상태에서도</a:t>
            </a:r>
            <a:r>
              <a:rPr lang="en-US" sz="2550" dirty="0">
                <a:latin typeface="Malgun Gothic"/>
                <a:cs typeface="Malgun Gothic"/>
              </a:rPr>
              <a:t> </a:t>
            </a:r>
            <a:r>
              <a:rPr sz="2550" dirty="0" err="1">
                <a:latin typeface="Malgun Gothic"/>
                <a:cs typeface="Malgun Gothic"/>
              </a:rPr>
              <a:t>작동하며</a:t>
            </a:r>
            <a:r>
              <a:rPr sz="2550" dirty="0">
                <a:latin typeface="Malgun Gothic"/>
                <a:cs typeface="Malgun Gothic"/>
              </a:rPr>
              <a:t>,</a:t>
            </a:r>
            <a:r>
              <a:rPr lang="en-US" sz="2550" dirty="0">
                <a:latin typeface="Malgun Gothic"/>
                <a:cs typeface="Malgun Gothic"/>
              </a:rPr>
              <a:t> </a:t>
            </a:r>
            <a:r>
              <a:rPr sz="2550" dirty="0" err="1">
                <a:latin typeface="Malgun Gothic"/>
                <a:cs typeface="Malgun Gothic"/>
              </a:rPr>
              <a:t>학번</a:t>
            </a:r>
            <a:r>
              <a:rPr sz="2550" spc="-340" dirty="0">
                <a:latin typeface="Malgun Gothic"/>
                <a:cs typeface="Malgun Gothic"/>
              </a:rPr>
              <a:t> </a:t>
            </a:r>
            <a:r>
              <a:rPr sz="2550" spc="-10" dirty="0">
                <a:latin typeface="Malgun Gothic"/>
                <a:cs typeface="Malgun Gothic"/>
              </a:rPr>
              <a:t>0</a:t>
            </a:r>
            <a:r>
              <a:rPr lang="en-US" sz="2550" spc="-10" dirty="0">
                <a:latin typeface="Malgun Gothic"/>
                <a:cs typeface="Malgun Gothic"/>
              </a:rPr>
              <a:t>~</a:t>
            </a:r>
            <a:r>
              <a:rPr sz="2550" spc="-10" dirty="0">
                <a:latin typeface="Malgun Gothic"/>
                <a:cs typeface="Malgun Gothic"/>
              </a:rPr>
              <a:t>N-1번까지단방향</a:t>
            </a:r>
            <a:r>
              <a:rPr lang="en-US" sz="2550" spc="-10" dirty="0">
                <a:latin typeface="Malgun Gothic"/>
                <a:cs typeface="Malgun Gothic"/>
              </a:rPr>
              <a:t> </a:t>
            </a:r>
            <a:r>
              <a:rPr sz="2550" spc="-10" dirty="0" err="1">
                <a:latin typeface="Malgun Gothic"/>
                <a:cs typeface="Malgun Gothic"/>
              </a:rPr>
              <a:t>루프</a:t>
            </a:r>
            <a:r>
              <a:rPr lang="en-US" sz="2550" spc="-10" dirty="0">
                <a:latin typeface="Malgun Gothic"/>
                <a:cs typeface="Malgun Gothic"/>
              </a:rPr>
              <a:t> </a:t>
            </a:r>
            <a:r>
              <a:rPr sz="2550" spc="-10" dirty="0" err="1">
                <a:latin typeface="Malgun Gothic"/>
                <a:cs typeface="Malgun Gothic"/>
              </a:rPr>
              <a:t>매핑을</a:t>
            </a:r>
            <a:r>
              <a:rPr lang="en-US" sz="2550" spc="-10" dirty="0">
                <a:latin typeface="Malgun Gothic"/>
                <a:cs typeface="Malgun Gothic"/>
              </a:rPr>
              <a:t> </a:t>
            </a:r>
            <a:r>
              <a:rPr sz="2550" spc="-10" dirty="0" err="1">
                <a:latin typeface="Malgun Gothic"/>
                <a:cs typeface="Malgun Gothic"/>
              </a:rPr>
              <a:t>수행합니다</a:t>
            </a:r>
            <a:r>
              <a:rPr sz="2550" spc="-10" dirty="0">
                <a:latin typeface="Malgun Gothic"/>
                <a:cs typeface="Malgun Gothic"/>
              </a:rPr>
              <a:t>.</a:t>
            </a:r>
            <a:endParaRPr sz="2550" dirty="0">
              <a:latin typeface="Malgun Gothic"/>
              <a:cs typeface="Malgun Gothic"/>
            </a:endParaRPr>
          </a:p>
          <a:p>
            <a:pPr marL="346075">
              <a:lnSpc>
                <a:spcPct val="100000"/>
              </a:lnSpc>
              <a:spcBef>
                <a:spcPts val="3625"/>
              </a:spcBef>
            </a:pPr>
            <a:r>
              <a:rPr sz="2300" dirty="0">
                <a:latin typeface="Malgun Gothic"/>
                <a:cs typeface="Malgun Gothic"/>
              </a:rPr>
              <a:t>*</a:t>
            </a:r>
            <a:r>
              <a:rPr sz="2300" spc="-20" dirty="0">
                <a:latin typeface="Malgun Gothic"/>
                <a:cs typeface="Malgun Gothic"/>
              </a:rPr>
              <a:t>  </a:t>
            </a:r>
            <a:r>
              <a:rPr sz="2300" spc="135" dirty="0">
                <a:latin typeface="Malgun Gothic"/>
                <a:cs typeface="Malgun Gothic"/>
              </a:rPr>
              <a:t>정럴</a:t>
            </a:r>
            <a:r>
              <a:rPr sz="2300" spc="-250" dirty="0">
                <a:latin typeface="Malgun Gothic"/>
                <a:cs typeface="Malgun Gothic"/>
              </a:rPr>
              <a:t> </a:t>
            </a:r>
            <a:r>
              <a:rPr sz="2300" spc="114" dirty="0">
                <a:latin typeface="Malgun Gothic"/>
                <a:cs typeface="Malgun Gothic"/>
              </a:rPr>
              <a:t>오버헤드가</a:t>
            </a:r>
            <a:r>
              <a:rPr sz="2300" spc="-215" dirty="0">
                <a:latin typeface="Malgun Gothic"/>
                <a:cs typeface="Malgun Gothic"/>
              </a:rPr>
              <a:t> </a:t>
            </a:r>
            <a:r>
              <a:rPr sz="2300" spc="160" dirty="0">
                <a:latin typeface="Malgun Gothic"/>
                <a:cs typeface="Malgun Gothic"/>
              </a:rPr>
              <a:t>없는</a:t>
            </a:r>
            <a:r>
              <a:rPr sz="2300" spc="-229" dirty="0">
                <a:latin typeface="Malgun Gothic"/>
                <a:cs typeface="Malgun Gothic"/>
              </a:rPr>
              <a:t> </a:t>
            </a:r>
            <a:r>
              <a:rPr sz="2300" spc="114" dirty="0">
                <a:latin typeface="Malgun Gothic"/>
                <a:cs typeface="Malgun Gothic"/>
              </a:rPr>
              <a:t>즉각적인</a:t>
            </a:r>
            <a:r>
              <a:rPr sz="2300" spc="-250" dirty="0">
                <a:latin typeface="Malgun Gothic"/>
                <a:cs typeface="Malgun Gothic"/>
              </a:rPr>
              <a:t> </a:t>
            </a:r>
            <a:r>
              <a:rPr sz="2300" spc="135" dirty="0">
                <a:latin typeface="Malgun Gothic"/>
                <a:cs typeface="Malgun Gothic"/>
              </a:rPr>
              <a:t>탐색</a:t>
            </a:r>
            <a:endParaRPr sz="2300" dirty="0">
              <a:latin typeface="Malgun Gothic"/>
              <a:cs typeface="Malgun Gothic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32535" y="6438900"/>
            <a:ext cx="6309995" cy="114582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43535" indent="-330835">
              <a:lnSpc>
                <a:spcPct val="100000"/>
              </a:lnSpc>
              <a:spcBef>
                <a:spcPts val="114"/>
              </a:spcBef>
              <a:buChar char="*"/>
              <a:tabLst>
                <a:tab pos="343535" algn="l"/>
              </a:tabLst>
            </a:pPr>
            <a:r>
              <a:rPr sz="2300" spc="114" dirty="0" err="1">
                <a:latin typeface="Malgun Gothic"/>
                <a:cs typeface="Malgun Gothic"/>
              </a:rPr>
              <a:t>소규모</a:t>
            </a:r>
            <a:r>
              <a:rPr lang="en-US" sz="2300" spc="-445" dirty="0">
                <a:latin typeface="Malgun Gothic"/>
                <a:cs typeface="Malgun Gothic"/>
              </a:rPr>
              <a:t> </a:t>
            </a:r>
            <a:r>
              <a:rPr sz="2300" spc="160" dirty="0" err="1">
                <a:latin typeface="Malgun Gothic"/>
                <a:cs typeface="Malgun Gothic"/>
              </a:rPr>
              <a:t>데이터셋에서</a:t>
            </a:r>
            <a:r>
              <a:rPr lang="en-US" sz="2300" spc="-160" dirty="0">
                <a:latin typeface="Malgun Gothic"/>
                <a:cs typeface="Malgun Gothic"/>
              </a:rPr>
              <a:t> </a:t>
            </a:r>
            <a:r>
              <a:rPr sz="2300" spc="180" dirty="0" err="1">
                <a:latin typeface="Malgun Gothic"/>
                <a:cs typeface="Malgun Gothic"/>
              </a:rPr>
              <a:t>가장</a:t>
            </a:r>
            <a:r>
              <a:rPr sz="2300" spc="-325" dirty="0">
                <a:latin typeface="Malgun Gothic"/>
                <a:cs typeface="Malgun Gothic"/>
              </a:rPr>
              <a:t> </a:t>
            </a:r>
            <a:r>
              <a:rPr sz="2300" spc="114" dirty="0">
                <a:latin typeface="Malgun Gothic"/>
                <a:cs typeface="Malgun Gothic"/>
              </a:rPr>
              <a:t>낮은</a:t>
            </a:r>
            <a:r>
              <a:rPr sz="2300" spc="-229" dirty="0">
                <a:latin typeface="Malgun Gothic"/>
                <a:cs typeface="Malgun Gothic"/>
              </a:rPr>
              <a:t> </a:t>
            </a:r>
            <a:r>
              <a:rPr sz="2300" spc="135" dirty="0">
                <a:latin typeface="Malgun Gothic"/>
                <a:cs typeface="Malgun Gothic"/>
              </a:rPr>
              <a:t>구현</a:t>
            </a:r>
            <a:r>
              <a:rPr sz="2300" spc="-280" dirty="0">
                <a:latin typeface="Malgun Gothic"/>
                <a:cs typeface="Malgun Gothic"/>
              </a:rPr>
              <a:t> </a:t>
            </a:r>
            <a:r>
              <a:rPr sz="2300" spc="90" dirty="0">
                <a:latin typeface="Malgun Gothic"/>
                <a:cs typeface="Malgun Gothic"/>
              </a:rPr>
              <a:t>복잡도</a:t>
            </a:r>
            <a:endParaRPr sz="2300" dirty="0">
              <a:latin typeface="Malgun Gothic"/>
              <a:cs typeface="Malgun Gothic"/>
            </a:endParaRPr>
          </a:p>
          <a:p>
            <a:pPr marL="344805" indent="-331470">
              <a:lnSpc>
                <a:spcPct val="100000"/>
              </a:lnSpc>
              <a:spcBef>
                <a:spcPts val="3304"/>
              </a:spcBef>
              <a:buChar char="*"/>
              <a:tabLst>
                <a:tab pos="344805" algn="l"/>
              </a:tabLst>
            </a:pPr>
            <a:r>
              <a:rPr sz="2300" spc="100" dirty="0" err="1">
                <a:latin typeface="Malgun Gothic"/>
                <a:cs typeface="Malgun Gothic"/>
              </a:rPr>
              <a:t>모든</a:t>
            </a:r>
            <a:r>
              <a:rPr sz="2300" spc="170" dirty="0">
                <a:latin typeface="Malgun Gothic"/>
                <a:cs typeface="Malgun Gothic"/>
              </a:rPr>
              <a:t> </a:t>
            </a:r>
            <a:r>
              <a:rPr sz="2300" spc="100" dirty="0" err="1">
                <a:latin typeface="Malgun Gothic"/>
                <a:cs typeface="Malgun Gothic"/>
              </a:rPr>
              <a:t>데이터</a:t>
            </a:r>
            <a:r>
              <a:rPr lang="en-US" sz="2300" spc="65" dirty="0">
                <a:latin typeface="Malgun Gothic"/>
                <a:cs typeface="Malgun Gothic"/>
              </a:rPr>
              <a:t> </a:t>
            </a:r>
            <a:r>
              <a:rPr sz="2300" spc="100" dirty="0" err="1">
                <a:latin typeface="Malgun Gothic"/>
                <a:cs typeface="Malgun Gothic"/>
              </a:rPr>
              <a:t>타입에</a:t>
            </a:r>
            <a:r>
              <a:rPr lang="en-US" sz="2300" spc="20" dirty="0">
                <a:latin typeface="Malgun Gothic"/>
                <a:cs typeface="Malgun Gothic"/>
              </a:rPr>
              <a:t> </a:t>
            </a:r>
            <a:r>
              <a:rPr sz="2300" spc="480" dirty="0">
                <a:latin typeface="Malgun Gothic"/>
                <a:cs typeface="Malgun Gothic"/>
              </a:rPr>
              <a:t>적</a:t>
            </a:r>
            <a:r>
              <a:rPr lang="ko-KR" altLang="en-US" sz="2300" spc="480" dirty="0">
                <a:latin typeface="Malgun Gothic"/>
                <a:cs typeface="Malgun Gothic"/>
              </a:rPr>
              <a:t>용 </a:t>
            </a:r>
            <a:r>
              <a:rPr sz="2300" spc="480" dirty="0" err="1">
                <a:latin typeface="Malgun Gothic"/>
                <a:cs typeface="Malgun Gothic"/>
              </a:rPr>
              <a:t>가능한</a:t>
            </a:r>
            <a:r>
              <a:rPr lang="en-US" sz="2300" spc="480" dirty="0">
                <a:latin typeface="Malgun Gothic"/>
                <a:cs typeface="Malgun Gothic"/>
              </a:rPr>
              <a:t> </a:t>
            </a:r>
            <a:r>
              <a:rPr sz="2300" spc="480" dirty="0" err="1">
                <a:latin typeface="Malgun Gothic"/>
                <a:cs typeface="Malgun Gothic"/>
              </a:rPr>
              <a:t>범용성</a:t>
            </a:r>
            <a:endParaRPr sz="2300" dirty="0">
              <a:latin typeface="Malgun Gothic"/>
              <a:cs typeface="Malgun Gothic"/>
            </a:endParaRPr>
          </a:p>
        </p:txBody>
      </p:sp>
      <p:pic>
        <p:nvPicPr>
          <p:cNvPr id="14" name="그림 1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7200" y="3101340"/>
            <a:ext cx="8266430" cy="56318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Holder 2"/>
          <p:cNvSpPr txBox="1">
            <a:spLocks noGrp="1"/>
          </p:cNvSpPr>
          <p:nvPr>
            <p:ph type="title"/>
          </p:nvPr>
        </p:nvSpPr>
        <p:spPr>
          <a:xfrm>
            <a:off x="814705" y="2323465"/>
            <a:ext cx="8731885" cy="908050"/>
          </a:xfrm>
          <a:prstGeom prst="rect">
            <a:avLst/>
          </a:prstGeom>
        </p:spPr>
        <p:txBody>
          <a:bodyPr vert="horz" wrap="square" lIns="0" tIns="0" rIns="0" bIns="0" numCol="1" anchor="t">
            <a:spAutoFit/>
          </a:bodyPr>
          <a:lstStyle>
            <a:lvl1pPr marL="0" indent="0">
              <a:buFontTx/>
              <a:buNone/>
              <a:defRPr lang="en-GB" altLang="en-US" sz="5650" b="0" i="0">
                <a:solidFill>
                  <a:schemeClr val="tx1"/>
                </a:solidFill>
                <a:latin typeface="Malgun Gothic" charset="0"/>
                <a:cs typeface="Malgun Gothic" charset="0"/>
              </a:defRPr>
            </a:lvl1pPr>
          </a:lstStyle>
          <a:p>
            <a:pPr marL="0" indent="0">
              <a:buFontTx/>
              <a:buNone/>
            </a:pPr>
            <a:r>
              <a:rPr sz="5900" b="0" i="0" spc="-76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I</a:t>
            </a:r>
            <a:r>
              <a:rPr sz="5900" b="0" i="0" spc="-12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  </a:t>
            </a:r>
            <a:r>
              <a:rPr sz="5900" dirty="0" err="1">
                <a:latin typeface="Calibri" charset="0"/>
                <a:ea typeface="+mj-ea"/>
                <a:cs typeface="+mj-cs"/>
              </a:rPr>
              <a:t>반복문</a:t>
            </a:r>
            <a:r>
              <a:rPr sz="5900" dirty="0">
                <a:latin typeface="Calibri" charset="0"/>
                <a:ea typeface="+mj-ea"/>
                <a:cs typeface="+mj-cs"/>
              </a:rPr>
              <a:t> </a:t>
            </a:r>
            <a:r>
              <a:rPr sz="5900" dirty="0" err="1">
                <a:latin typeface="Calibri" charset="0"/>
                <a:ea typeface="+mj-ea"/>
                <a:cs typeface="+mj-cs"/>
              </a:rPr>
              <a:t>기반</a:t>
            </a:r>
            <a:r>
              <a:rPr sz="5900" dirty="0">
                <a:latin typeface="Calibri" charset="0"/>
                <a:ea typeface="+mj-ea"/>
                <a:cs typeface="+mj-cs"/>
              </a:rPr>
              <a:t> </a:t>
            </a:r>
            <a:r>
              <a:rPr sz="5900" dirty="0" err="1">
                <a:latin typeface="Calibri" charset="0"/>
                <a:ea typeface="+mj-ea"/>
                <a:cs typeface="+mj-cs"/>
              </a:rPr>
              <a:t>이진</a:t>
            </a:r>
            <a:r>
              <a:rPr sz="5900" dirty="0">
                <a:latin typeface="Calibri" charset="0"/>
                <a:ea typeface="+mj-ea"/>
                <a:cs typeface="+mj-cs"/>
              </a:rPr>
              <a:t> </a:t>
            </a:r>
            <a:r>
              <a:rPr sz="5900" dirty="0" err="1">
                <a:latin typeface="Calibri" charset="0"/>
                <a:ea typeface="+mj-ea"/>
                <a:cs typeface="+mj-cs"/>
              </a:rPr>
              <a:t>탐색</a:t>
            </a:r>
            <a:endParaRPr lang="ko-KR" altLang="en-US" sz="5900" dirty="0">
              <a:latin typeface="Calibri" charset="0"/>
              <a:ea typeface="+mj-ea"/>
              <a:cs typeface="+mj-c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3765" y="4789805"/>
            <a:ext cx="9290685" cy="3230949"/>
          </a:xfrm>
          <a:prstGeom prst="rect">
            <a:avLst/>
          </a:prstGeom>
        </p:spPr>
        <p:txBody>
          <a:bodyPr vert="horz" wrap="square" lIns="0" tIns="14605" rIns="0" bIns="0" numCol="1" anchor="t">
            <a:spAutoFit/>
          </a:bodyPr>
          <a:lstStyle/>
          <a:p>
            <a:pPr marL="24765" indent="0">
              <a:lnSpc>
                <a:spcPct val="100000"/>
              </a:lnSpc>
              <a:spcBef>
                <a:spcPts val="114"/>
              </a:spcBef>
              <a:buFontTx/>
              <a:buNone/>
            </a:pPr>
            <a:r>
              <a:rPr sz="3600" b="1" spc="200" dirty="0">
                <a:latin typeface="Malgun Gothic" charset="0"/>
                <a:cs typeface="Malgun Gothic" charset="0"/>
              </a:rPr>
              <a:t>while(low</a:t>
            </a:r>
            <a:r>
              <a:rPr sz="3600" b="1" spc="-350" dirty="0">
                <a:latin typeface="Malgun Gothic" charset="0"/>
                <a:cs typeface="Malgun Gothic" charset="0"/>
              </a:rPr>
              <a:t> </a:t>
            </a:r>
            <a:r>
              <a:rPr sz="3600" b="1" spc="150" dirty="0">
                <a:latin typeface="Malgun Gothic" charset="0"/>
                <a:cs typeface="Malgun Gothic" charset="0"/>
              </a:rPr>
              <a:t>&lt;=high)</a:t>
            </a:r>
            <a:r>
              <a:rPr lang="en-US" sz="3600" b="1" spc="150" dirty="0">
                <a:latin typeface="Malgun Gothic" charset="0"/>
                <a:cs typeface="Malgun Gothic" charset="0"/>
              </a:rPr>
              <a:t> </a:t>
            </a:r>
            <a:r>
              <a:rPr sz="3600" b="1" spc="150" dirty="0" err="1">
                <a:latin typeface="Malgun Gothic" charset="0"/>
                <a:cs typeface="Malgun Gothic" charset="0"/>
              </a:rPr>
              <a:t>구조</a:t>
            </a:r>
            <a:endParaRPr lang="ko-KR" altLang="en-US" sz="3600" baseline="-25000" dirty="0">
              <a:latin typeface="Malgun Gothic" charset="0"/>
              <a:cs typeface="Malgun Gothic" charset="0"/>
            </a:endParaRPr>
          </a:p>
          <a:p>
            <a:pPr marL="12700" marR="28575" indent="14605">
              <a:lnSpc>
                <a:spcPct val="129299"/>
              </a:lnSpc>
              <a:spcBef>
                <a:spcPts val="2900"/>
              </a:spcBef>
              <a:buFontTx/>
              <a:buNone/>
            </a:pPr>
            <a:r>
              <a:rPr sz="2550" spc="250" dirty="0" err="1">
                <a:latin typeface="Malgun Gothic" charset="0"/>
                <a:cs typeface="Malgun Gothic" charset="0"/>
              </a:rPr>
              <a:t>정렬된</a:t>
            </a:r>
            <a:r>
              <a:rPr lang="en-US" sz="2550" spc="250" dirty="0">
                <a:latin typeface="Malgun Gothic" charset="0"/>
                <a:cs typeface="Malgun Gothic" charset="0"/>
              </a:rPr>
              <a:t> </a:t>
            </a:r>
            <a:r>
              <a:rPr sz="2550" spc="250" dirty="0" err="1">
                <a:latin typeface="Malgun Gothic" charset="0"/>
                <a:cs typeface="Malgun Gothic" charset="0"/>
              </a:rPr>
              <a:t>배열의</a:t>
            </a:r>
            <a:r>
              <a:rPr lang="en-US" sz="2550" spc="250" dirty="0">
                <a:latin typeface="Malgun Gothic" charset="0"/>
                <a:cs typeface="Malgun Gothic" charset="0"/>
              </a:rPr>
              <a:t> </a:t>
            </a:r>
            <a:r>
              <a:rPr lang="ko-KR" altLang="en-US" sz="2550" spc="250" dirty="0" err="1">
                <a:latin typeface="Malgun Gothic" charset="0"/>
                <a:cs typeface="Malgun Gothic" charset="0"/>
              </a:rPr>
              <a:t>중간값을</a:t>
            </a:r>
            <a:r>
              <a:rPr lang="ko-KR" altLang="en-US" sz="2550" spc="250" dirty="0">
                <a:latin typeface="Malgun Gothic" charset="0"/>
                <a:cs typeface="Malgun Gothic" charset="0"/>
              </a:rPr>
              <a:t> </a:t>
            </a:r>
            <a:r>
              <a:rPr sz="2550" spc="-10" dirty="0" err="1">
                <a:latin typeface="Malgun Gothic" charset="0"/>
                <a:cs typeface="Malgun Gothic" charset="0"/>
              </a:rPr>
              <a:t>반복적으로</a:t>
            </a:r>
            <a:r>
              <a:rPr lang="en-US" sz="2550" spc="-10" dirty="0">
                <a:latin typeface="Malgun Gothic" charset="0"/>
                <a:cs typeface="Malgun Gothic" charset="0"/>
              </a:rPr>
              <a:t> </a:t>
            </a:r>
            <a:r>
              <a:rPr sz="2550" spc="-10" dirty="0" err="1">
                <a:latin typeface="Malgun Gothic" charset="0"/>
                <a:cs typeface="Malgun Gothic" charset="0"/>
              </a:rPr>
              <a:t>비교하여</a:t>
            </a:r>
            <a:r>
              <a:rPr lang="en-US" sz="2550" spc="-10" dirty="0">
                <a:latin typeface="Malgun Gothic" charset="0"/>
                <a:cs typeface="Malgun Gothic" charset="0"/>
              </a:rPr>
              <a:t> </a:t>
            </a:r>
            <a:r>
              <a:rPr sz="2550" spc="-10" dirty="0" err="1">
                <a:latin typeface="Malgun Gothic" charset="0"/>
                <a:cs typeface="Malgun Gothic" charset="0"/>
              </a:rPr>
              <a:t>탐색</a:t>
            </a:r>
            <a:r>
              <a:rPr sz="2550" spc="-80" dirty="0">
                <a:latin typeface="Malgun Gothic" charset="0"/>
                <a:cs typeface="Malgun Gothic" charset="0"/>
              </a:rPr>
              <a:t> </a:t>
            </a:r>
            <a:r>
              <a:rPr sz="2550" spc="60" dirty="0" err="1">
                <a:latin typeface="Malgun Gothic" charset="0"/>
                <a:cs typeface="Malgun Gothic" charset="0"/>
              </a:rPr>
              <a:t>범위를</a:t>
            </a:r>
            <a:r>
              <a:rPr lang="en-US" sz="2550" spc="60" dirty="0">
                <a:latin typeface="Malgun Gothic" charset="0"/>
                <a:cs typeface="Malgun Gothic" charset="0"/>
              </a:rPr>
              <a:t> </a:t>
            </a:r>
            <a:r>
              <a:rPr sz="2550" spc="60" dirty="0" err="1">
                <a:latin typeface="Malgun Gothic" charset="0"/>
                <a:cs typeface="Malgun Gothic" charset="0"/>
              </a:rPr>
              <a:t>기</a:t>
            </a:r>
            <a:r>
              <a:rPr sz="2550" dirty="0" err="1">
                <a:latin typeface="Malgun Gothic" charset="0"/>
                <a:cs typeface="Malgun Gothic" charset="0"/>
              </a:rPr>
              <a:t>하급수적으로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줄여나가는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메커니즘입니다</a:t>
            </a:r>
            <a:r>
              <a:rPr sz="2550" dirty="0">
                <a:latin typeface="Malgun Gothic" charset="0"/>
                <a:cs typeface="Malgun Gothic" charset="0"/>
              </a:rPr>
              <a:t>.</a:t>
            </a:r>
            <a:endParaRPr lang="ko-KR" altLang="en-US" sz="2550" dirty="0">
              <a:latin typeface="Malgun Gothic" charset="0"/>
              <a:cs typeface="Malgun Gothic" charset="0"/>
            </a:endParaRPr>
          </a:p>
          <a:p>
            <a:pPr marL="21590" marR="5080" indent="9525">
              <a:lnSpc>
                <a:spcPct val="129299"/>
              </a:lnSpc>
              <a:spcBef>
                <a:spcPts val="2470"/>
              </a:spcBef>
              <a:buFontTx/>
              <a:buNone/>
            </a:pPr>
            <a:r>
              <a:rPr sz="2550" spc="-150" dirty="0" err="1">
                <a:latin typeface="Malgun Gothic" charset="0"/>
                <a:cs typeface="Malgun Gothic" charset="0"/>
              </a:rPr>
              <a:t>스택</a:t>
            </a:r>
            <a:r>
              <a:rPr sz="2550" spc="-280" dirty="0">
                <a:latin typeface="Malgun Gothic" charset="0"/>
                <a:cs typeface="Malgun Gothic" charset="0"/>
              </a:rPr>
              <a:t> </a:t>
            </a:r>
            <a:r>
              <a:rPr sz="2550" spc="-150" dirty="0" err="1">
                <a:latin typeface="Malgun Gothic" charset="0"/>
                <a:cs typeface="Malgun Gothic" charset="0"/>
              </a:rPr>
              <a:t>오버플로우</a:t>
            </a:r>
            <a:r>
              <a:rPr sz="2550" spc="-130" dirty="0">
                <a:latin typeface="Malgun Gothic" charset="0"/>
                <a:cs typeface="Malgun Gothic" charset="0"/>
              </a:rPr>
              <a:t> </a:t>
            </a:r>
            <a:r>
              <a:rPr sz="2550" spc="-130" dirty="0" err="1">
                <a:latin typeface="Malgun Gothic" charset="0"/>
                <a:cs typeface="Malgun Gothic" charset="0"/>
              </a:rPr>
              <a:t>위험이</a:t>
            </a:r>
            <a:r>
              <a:rPr sz="2550" spc="-460" dirty="0">
                <a:latin typeface="Malgun Gothic" charset="0"/>
                <a:cs typeface="Malgun Gothic" charset="0"/>
              </a:rPr>
              <a:t> </a:t>
            </a:r>
            <a:r>
              <a:rPr sz="2550" spc="-50" dirty="0" err="1">
                <a:latin typeface="Malgun Gothic" charset="0"/>
                <a:cs typeface="Malgun Gothic" charset="0"/>
              </a:rPr>
              <a:t>없으며</a:t>
            </a:r>
            <a:r>
              <a:rPr sz="2550" spc="-28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수만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명의</a:t>
            </a:r>
            <a:r>
              <a:rPr sz="2550" spc="-21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학생데이터에서도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>
                <a:latin typeface="Malgun Gothic" charset="0"/>
                <a:cs typeface="Malgun Gothic" charset="0"/>
              </a:rPr>
              <a:t>20회 </a:t>
            </a:r>
            <a:r>
              <a:rPr sz="2550" dirty="0" err="1">
                <a:latin typeface="Malgun Gothic" charset="0"/>
                <a:cs typeface="Malgun Gothic" charset="0"/>
              </a:rPr>
              <a:t>이내의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비교로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조회를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완료합니다</a:t>
            </a:r>
            <a:r>
              <a:rPr sz="2550" dirty="0">
                <a:latin typeface="Malgun Gothic" charset="0"/>
                <a:cs typeface="Malgun Gothic" charset="0"/>
              </a:rPr>
              <a:t>.</a:t>
            </a:r>
            <a:endParaRPr lang="ko-KR" altLang="en-US" sz="2550" dirty="0">
              <a:latin typeface="Malgun Gothic" charset="0"/>
              <a:cs typeface="Malgun Gothic" charset="0"/>
            </a:endParaRPr>
          </a:p>
        </p:txBody>
      </p:sp>
      <p:pic>
        <p:nvPicPr>
          <p:cNvPr id="6" name="그림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525" y="1644015"/>
            <a:ext cx="8674100" cy="822198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929640" y="1141730"/>
            <a:ext cx="9655810" cy="1410335"/>
          </a:xfrm>
          <a:prstGeom prst="rect">
            <a:avLst/>
          </a:prstGeom>
        </p:spPr>
        <p:txBody>
          <a:bodyPr vert="horz" wrap="square" lIns="0" tIns="50228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90"/>
              </a:spcBef>
              <a:buFontTx/>
              <a:buNone/>
            </a:pPr>
            <a:r>
              <a:rPr sz="5900" b="0" i="0" spc="-76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I  </a:t>
            </a:r>
            <a:r>
              <a:rPr sz="5900" spc="-300" dirty="0" err="1"/>
              <a:t>재귀적</a:t>
            </a:r>
            <a:r>
              <a:rPr sz="5900" spc="-1220" dirty="0"/>
              <a:t> </a:t>
            </a:r>
            <a:r>
              <a:rPr sz="5900" spc="-1150" dirty="0" err="1"/>
              <a:t>분할</a:t>
            </a:r>
            <a:r>
              <a:rPr lang="ko-KR" altLang="en-US" sz="5900" spc="-1150" dirty="0"/>
              <a:t>　</a:t>
            </a:r>
            <a:r>
              <a:rPr sz="5900" spc="-1150" dirty="0" err="1"/>
              <a:t>정복</a:t>
            </a:r>
            <a:r>
              <a:rPr sz="5900" spc="-860" dirty="0"/>
              <a:t> </a:t>
            </a:r>
            <a:r>
              <a:rPr sz="5900" spc="-1300" dirty="0" err="1"/>
              <a:t>탐색</a:t>
            </a:r>
            <a:endParaRPr lang="ko-KR" altLang="en-US" sz="5900" dirty="0"/>
          </a:p>
        </p:txBody>
      </p:sp>
      <p:sp>
        <p:nvSpPr>
          <p:cNvPr id="28" name="object 28"/>
          <p:cNvSpPr txBox="1">
            <a:spLocks/>
          </p:cNvSpPr>
          <p:nvPr/>
        </p:nvSpPr>
        <p:spPr>
          <a:xfrm>
            <a:off x="9330690" y="4984750"/>
            <a:ext cx="5529580" cy="568960"/>
          </a:xfrm>
          <a:prstGeom prst="rect">
            <a:avLst/>
          </a:prstGeom>
        </p:spPr>
        <p:txBody>
          <a:bodyPr vert="horz" wrap="square" lIns="0" tIns="1460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14"/>
              </a:spcBef>
              <a:buFontTx/>
              <a:buNone/>
            </a:pPr>
            <a:r>
              <a:rPr sz="3600" b="1" dirty="0" err="1">
                <a:latin typeface="Malgun Gothic" charset="0"/>
                <a:cs typeface="Malgun Gothic" charset="0"/>
              </a:rPr>
              <a:t>함수</a:t>
            </a:r>
            <a:r>
              <a:rPr sz="3600" b="1" spc="-230" dirty="0">
                <a:latin typeface="Malgun Gothic" charset="0"/>
                <a:cs typeface="Malgun Gothic" charset="0"/>
              </a:rPr>
              <a:t> </a:t>
            </a:r>
            <a:r>
              <a:rPr sz="3600" b="1" dirty="0" err="1">
                <a:latin typeface="Malgun Gothic" charset="0"/>
                <a:cs typeface="Malgun Gothic" charset="0"/>
              </a:rPr>
              <a:t>호출</a:t>
            </a:r>
            <a:r>
              <a:rPr sz="3600" b="1" spc="-200" dirty="0">
                <a:latin typeface="Malgun Gothic" charset="0"/>
                <a:cs typeface="Malgun Gothic" charset="0"/>
              </a:rPr>
              <a:t> </a:t>
            </a:r>
            <a:r>
              <a:rPr sz="3600" b="1" dirty="0" err="1">
                <a:latin typeface="Malgun Gothic" charset="0"/>
                <a:cs typeface="Malgun Gothic" charset="0"/>
              </a:rPr>
              <a:t>스택의</a:t>
            </a:r>
            <a:r>
              <a:rPr sz="3600" b="1" spc="-160" dirty="0">
                <a:latin typeface="Malgun Gothic" charset="0"/>
                <a:cs typeface="Malgun Gothic" charset="0"/>
              </a:rPr>
              <a:t> </a:t>
            </a:r>
            <a:r>
              <a:rPr sz="3600" b="1" dirty="0" err="1">
                <a:latin typeface="Malgun Gothic" charset="0"/>
                <a:cs typeface="Malgun Gothic" charset="0"/>
              </a:rPr>
              <a:t>활용</a:t>
            </a:r>
            <a:endParaRPr lang="ko-KR" altLang="en-US" sz="3600" b="1" dirty="0">
              <a:latin typeface="Malgun Gothic" charset="0"/>
              <a:cs typeface="Malgun Gothic" charset="0"/>
            </a:endParaRPr>
          </a:p>
        </p:txBody>
      </p:sp>
      <p:sp>
        <p:nvSpPr>
          <p:cNvPr id="29" name="object 29"/>
          <p:cNvSpPr txBox="1">
            <a:spLocks/>
          </p:cNvSpPr>
          <p:nvPr/>
        </p:nvSpPr>
        <p:spPr>
          <a:xfrm>
            <a:off x="9349741" y="5650865"/>
            <a:ext cx="8627110" cy="1488484"/>
          </a:xfrm>
          <a:prstGeom prst="rect">
            <a:avLst/>
          </a:prstGeom>
        </p:spPr>
        <p:txBody>
          <a:bodyPr vert="horz" wrap="square" lIns="0" tIns="12065" rIns="0" bIns="0" numCol="1" anchor="t">
            <a:spAutoFit/>
          </a:bodyPr>
          <a:lstStyle/>
          <a:p>
            <a:pPr marL="21590" marR="5080" indent="-9525">
              <a:lnSpc>
                <a:spcPct val="129299"/>
              </a:lnSpc>
              <a:spcBef>
                <a:spcPts val="95"/>
              </a:spcBef>
              <a:buFontTx/>
              <a:buNone/>
            </a:pPr>
            <a:endParaRPr lang="en-US" sz="2550" spc="-20" dirty="0">
              <a:latin typeface="Malgun Gothic" charset="0"/>
              <a:cs typeface="Malgun Gothic" charset="0"/>
            </a:endParaRPr>
          </a:p>
          <a:p>
            <a:pPr marL="21590" marR="5080" indent="-9525">
              <a:lnSpc>
                <a:spcPct val="129299"/>
              </a:lnSpc>
              <a:spcBef>
                <a:spcPts val="95"/>
              </a:spcBef>
              <a:buFontTx/>
              <a:buNone/>
            </a:pPr>
            <a:r>
              <a:rPr sz="2550" spc="-20" dirty="0" err="1">
                <a:latin typeface="Malgun Gothic" charset="0"/>
                <a:cs typeface="Malgun Gothic" charset="0"/>
              </a:rPr>
              <a:t>알고리즘의</a:t>
            </a:r>
            <a:r>
              <a:rPr sz="2550" spc="-18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논리를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코드로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직관적으로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표현하며</a:t>
            </a:r>
            <a:r>
              <a:rPr sz="2550" dirty="0">
                <a:latin typeface="Malgun Gothic" charset="0"/>
                <a:cs typeface="Malgun Gothic" charset="0"/>
              </a:rPr>
              <a:t>,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기저</a:t>
            </a:r>
            <a:r>
              <a:rPr lang="en-US" sz="2550" dirty="0">
                <a:latin typeface="Malgun Gothic" charset="0"/>
                <a:cs typeface="Malgun Gothic" charset="0"/>
              </a:rPr>
              <a:t> </a:t>
            </a:r>
            <a:r>
              <a:rPr sz="2550" dirty="0" err="1">
                <a:latin typeface="Malgun Gothic" charset="0"/>
                <a:cs typeface="Malgun Gothic" charset="0"/>
              </a:rPr>
              <a:t>조건</a:t>
            </a:r>
            <a:r>
              <a:rPr sz="2550" dirty="0">
                <a:latin typeface="Malgun Gothic" charset="0"/>
                <a:cs typeface="Malgun Gothic" charset="0"/>
              </a:rPr>
              <a:t> </a:t>
            </a:r>
            <a:r>
              <a:rPr sz="2550" spc="150" dirty="0">
                <a:latin typeface="Malgun Gothic" charset="0"/>
                <a:cs typeface="Malgun Gothic" charset="0"/>
              </a:rPr>
              <a:t>(</a:t>
            </a:r>
            <a:r>
              <a:rPr sz="2550" spc="150" dirty="0" err="1">
                <a:latin typeface="Malgun Gothic" charset="0"/>
                <a:cs typeface="Malgun Gothic" charset="0"/>
              </a:rPr>
              <a:t>BaseCase</a:t>
            </a:r>
            <a:r>
              <a:rPr sz="2550" spc="150" dirty="0">
                <a:latin typeface="Malgun Gothic" charset="0"/>
                <a:cs typeface="Malgun Gothic" charset="0"/>
              </a:rPr>
              <a:t>)</a:t>
            </a:r>
            <a:r>
              <a:rPr lang="ko-KR" altLang="en-US" sz="2550" spc="150" dirty="0">
                <a:latin typeface="Malgun Gothic" charset="0"/>
                <a:cs typeface="Malgun Gothic" charset="0"/>
              </a:rPr>
              <a:t>을 </a:t>
            </a:r>
            <a:r>
              <a:rPr sz="2550" spc="150" dirty="0" err="1">
                <a:latin typeface="Malgun Gothic" charset="0"/>
                <a:cs typeface="Malgun Gothic" charset="0"/>
              </a:rPr>
              <a:t>통한</a:t>
            </a:r>
            <a:r>
              <a:rPr sz="2550" spc="150" dirty="0">
                <a:latin typeface="Malgun Gothic" charset="0"/>
                <a:cs typeface="Malgun Gothic" charset="0"/>
              </a:rPr>
              <a:t> </a:t>
            </a:r>
            <a:r>
              <a:rPr sz="2550" spc="150" dirty="0" err="1">
                <a:latin typeface="Malgun Gothic" charset="0"/>
                <a:cs typeface="Malgun Gothic" charset="0"/>
              </a:rPr>
              <a:t>명확한</a:t>
            </a:r>
            <a:r>
              <a:rPr sz="2550" spc="150" dirty="0">
                <a:latin typeface="Malgun Gothic" charset="0"/>
                <a:cs typeface="Malgun Gothic" charset="0"/>
              </a:rPr>
              <a:t> </a:t>
            </a:r>
            <a:r>
              <a:rPr sz="2550" spc="150" dirty="0" err="1">
                <a:latin typeface="Malgun Gothic" charset="0"/>
                <a:cs typeface="Malgun Gothic" charset="0"/>
              </a:rPr>
              <a:t>지점을</a:t>
            </a:r>
            <a:r>
              <a:rPr lang="en-US" sz="2550" spc="150" dirty="0">
                <a:latin typeface="Malgun Gothic" charset="0"/>
                <a:cs typeface="Malgun Gothic" charset="0"/>
              </a:rPr>
              <a:t> </a:t>
            </a:r>
            <a:r>
              <a:rPr sz="2550" spc="150" dirty="0" err="1">
                <a:latin typeface="Malgun Gothic" charset="0"/>
                <a:cs typeface="Malgun Gothic" charset="0"/>
              </a:rPr>
              <a:t>정의합니다</a:t>
            </a:r>
            <a:r>
              <a:rPr sz="2550" spc="150" dirty="0">
                <a:latin typeface="Malgun Gothic" charset="0"/>
                <a:cs typeface="Malgun Gothic" charset="0"/>
              </a:rPr>
              <a:t>.</a:t>
            </a:r>
            <a:endParaRPr lang="ko-KR" altLang="en-US" sz="2550" dirty="0">
              <a:latin typeface="Malgun Gothic" charset="0"/>
              <a:cs typeface="Malgun Gothic" charset="0"/>
            </a:endParaRPr>
          </a:p>
        </p:txBody>
      </p:sp>
      <p:pic>
        <p:nvPicPr>
          <p:cNvPr id="30" name="그림 2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50" y="3226435"/>
            <a:ext cx="7197090" cy="710755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38860" y="2211070"/>
            <a:ext cx="8911590" cy="924560"/>
          </a:xfrm>
          <a:prstGeom prst="rect">
            <a:avLst/>
          </a:prstGeom>
        </p:spPr>
        <p:txBody>
          <a:bodyPr vert="horz" wrap="square" lIns="0" tIns="16510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30"/>
              </a:spcBef>
              <a:buFontTx/>
              <a:buNone/>
            </a:pPr>
            <a:r>
              <a:rPr sz="5900" b="0" i="0" spc="-76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I  </a:t>
            </a:r>
            <a:r>
              <a:rPr sz="5900" spc="-300"/>
              <a:t>알고리즘</a:t>
            </a:r>
            <a:r>
              <a:rPr sz="5900" spc="-750"/>
              <a:t> </a:t>
            </a:r>
            <a:r>
              <a:rPr sz="5900" spc="-1030"/>
              <a:t>특성</a:t>
            </a:r>
            <a:r>
              <a:rPr sz="5900" spc="-1180"/>
              <a:t> </a:t>
            </a:r>
            <a:r>
              <a:rPr sz="5900" spc="-910"/>
              <a:t>비교</a:t>
            </a:r>
            <a:r>
              <a:rPr sz="5900" spc="-860"/>
              <a:t> </a:t>
            </a:r>
            <a:r>
              <a:rPr sz="5900" spc="-990"/>
              <a:t>분석</a:t>
            </a:r>
            <a:endParaRPr lang="ko-KR" altLang="en-US" sz="5900"/>
          </a:p>
        </p:txBody>
      </p:sp>
      <p:graphicFrame>
        <p:nvGraphicFramePr>
          <p:cNvPr id="6" name="표 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379611"/>
              </p:ext>
            </p:extLst>
          </p:nvPr>
        </p:nvGraphicFramePr>
        <p:xfrm>
          <a:off x="3583940" y="4090035"/>
          <a:ext cx="10785475" cy="34099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40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7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377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89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2150">
                <a:tc>
                  <a:txBody>
                    <a:bodyPr/>
                    <a:lstStyle/>
                    <a:p>
                      <a:pPr marL="31750" lvl="1" indent="0" algn="ctr">
                        <a:lnSpc>
                          <a:spcPct val="100000"/>
                        </a:lnSpc>
                        <a:spcBef>
                          <a:spcPct val="284"/>
                        </a:spcBef>
                        <a:buFontTx/>
                        <a:buNone/>
                      </a:pPr>
                      <a:r>
                        <a:rPr sz="2800" kern="1200" spc="-4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탐색기법</a:t>
                      </a:r>
                      <a:endParaRPr lang="ko-KR" altLang="en-US" sz="2800" kern="120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5560" marB="0">
                    <a:solidFill>
                      <a:schemeClr val="accent1">
                        <a:alpha val="2001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6530" lvl="1" indent="0" algn="ctr">
                        <a:lnSpc>
                          <a:spcPct val="100000"/>
                        </a:lnSpc>
                        <a:spcBef>
                          <a:spcPct val="284"/>
                        </a:spcBef>
                        <a:buFontTx/>
                        <a:buNone/>
                      </a:pPr>
                      <a:r>
                        <a:rPr sz="2800" kern="1200" spc="-22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시간복잡</a:t>
                      </a:r>
                      <a:r>
                        <a:rPr sz="2800" kern="1200" spc="-92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도</a:t>
                      </a:r>
                      <a:endParaRPr lang="ko-KR" altLang="en-US" sz="2800" kern="120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5560" marB="0">
                    <a:solidFill>
                      <a:schemeClr val="accent1">
                        <a:alpha val="2001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2250" lvl="1" indent="0" algn="ctr">
                        <a:lnSpc>
                          <a:spcPct val="100000"/>
                        </a:lnSpc>
                        <a:spcBef>
                          <a:spcPct val="284"/>
                        </a:spcBef>
                        <a:buFontTx/>
                        <a:buNone/>
                      </a:pPr>
                      <a:r>
                        <a:rPr sz="2800" kern="1200" spc="-22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정렬</a:t>
                      </a:r>
                      <a:r>
                        <a:rPr lang="en-US" sz="2800" kern="1200" spc="-22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800" kern="1200" spc="-22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필요</a:t>
                      </a:r>
                      <a:r>
                        <a:rPr sz="2800" kern="1200" spc="-121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성</a:t>
                      </a:r>
                      <a:endParaRPr lang="ko-KR" altLang="en-US" sz="280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5560" marB="0">
                    <a:solidFill>
                      <a:schemeClr val="accent1">
                        <a:alpha val="20017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39395" lvl="1" indent="0" algn="ctr">
                        <a:lnSpc>
                          <a:spcPct val="100000"/>
                        </a:lnSpc>
                        <a:spcBef>
                          <a:spcPct val="284"/>
                        </a:spcBef>
                        <a:buFontTx/>
                        <a:buNone/>
                      </a:pPr>
                      <a:r>
                        <a:rPr sz="2800" kern="1200" spc="-28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최적</a:t>
                      </a:r>
                      <a:r>
                        <a:rPr lang="en-US" sz="2800" kern="1200" spc="-28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800" kern="1200" spc="-28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시나리오</a:t>
                      </a:r>
                      <a:endParaRPr lang="ko-KR" altLang="en-US" sz="280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5560" marB="0">
                    <a:solidFill>
                      <a:schemeClr val="accent1">
                        <a:alpha val="20017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3920">
                <a:tc>
                  <a:txBody>
                    <a:bodyPr/>
                    <a:lstStyle/>
                    <a:p>
                      <a:pPr marL="38100" lvl="1" indent="0" algn="ctr">
                        <a:tabLst>
                          <a:tab pos="744220" algn="l"/>
                        </a:tabLst>
                      </a:pPr>
                      <a:r>
                        <a:rPr sz="2550" kern="1200" spc="15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선형탐색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293370" marB="0"/>
                </a:tc>
                <a:tc>
                  <a:txBody>
                    <a:bodyPr/>
                    <a:lstStyle/>
                    <a:p>
                      <a:pPr marL="191135" lvl="1" indent="0" algn="ctr">
                        <a:lnSpc>
                          <a:spcPct val="100000"/>
                        </a:lnSpc>
                        <a:spcBef>
                          <a:spcPct val="2310"/>
                        </a:spcBef>
                        <a:buFontTx/>
                        <a:buNone/>
                      </a:pPr>
                      <a:r>
                        <a:rPr sz="2550" kern="1200" spc="-1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O(n)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293370" marB="0"/>
                </a:tc>
                <a:tc>
                  <a:txBody>
                    <a:bodyPr/>
                    <a:lstStyle/>
                    <a:p>
                      <a:pPr marL="238760" lvl="1" indent="0" algn="ctr">
                        <a:lnSpc>
                          <a:spcPct val="100000"/>
                        </a:lnSpc>
                        <a:spcBef>
                          <a:spcPct val="2560"/>
                        </a:spcBef>
                        <a:buFontTx/>
                        <a:buNone/>
                      </a:pPr>
                      <a:r>
                        <a:rPr sz="2550" kern="1200" spc="9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불필요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25120" marB="0"/>
                </a:tc>
                <a:tc>
                  <a:txBody>
                    <a:bodyPr/>
                    <a:lstStyle/>
                    <a:p>
                      <a:pPr marL="254000" lvl="1" indent="0" algn="ctr">
                        <a:lnSpc>
                          <a:spcPct val="100000"/>
                        </a:lnSpc>
                        <a:spcBef>
                          <a:spcPct val="2560"/>
                        </a:spcBef>
                        <a:buFontTx/>
                        <a:buNone/>
                      </a:pPr>
                      <a:r>
                        <a:rPr sz="2550" kern="1200" spc="14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소규모</a:t>
                      </a:r>
                      <a:r>
                        <a:rPr sz="2550" kern="1200" spc="14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/</a:t>
                      </a:r>
                      <a:r>
                        <a:rPr sz="2550" kern="1200" spc="14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비정럴데이터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2512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0760">
                <a:tc>
                  <a:txBody>
                    <a:bodyPr/>
                    <a:lstStyle/>
                    <a:p>
                      <a:pPr marL="40005" lvl="1" indent="0" algn="ctr">
                        <a:lnSpc>
                          <a:spcPct val="100000"/>
                        </a:lnSpc>
                        <a:spcBef>
                          <a:spcPct val="2405"/>
                        </a:spcBef>
                        <a:buFontTx/>
                        <a:buNone/>
                      </a:pPr>
                      <a:r>
                        <a:rPr sz="2550" kern="1200" spc="-5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이진</a:t>
                      </a:r>
                      <a:r>
                        <a:rPr sz="2550" kern="1200" spc="-37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spc="12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(</a:t>
                      </a:r>
                      <a:r>
                        <a:rPr sz="2550" kern="1200" spc="12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반복</a:t>
                      </a:r>
                      <a:r>
                        <a:rPr sz="2550" kern="1200" spc="12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)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04800" marB="0"/>
                </a:tc>
                <a:tc>
                  <a:txBody>
                    <a:bodyPr/>
                    <a:lstStyle/>
                    <a:p>
                      <a:pPr marL="288290" lvl="1" indent="0" algn="ctr">
                        <a:lnSpc>
                          <a:spcPct val="100000"/>
                        </a:lnSpc>
                        <a:spcBef>
                          <a:spcPct val="2405"/>
                        </a:spcBef>
                        <a:buFontTx/>
                        <a:buNone/>
                      </a:pPr>
                      <a:r>
                        <a:rPr sz="2550" kern="1200" spc="-9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O(log</a:t>
                      </a:r>
                      <a:r>
                        <a:rPr sz="2550" kern="1200" spc="-57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spc="-2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n)</a:t>
                      </a:r>
                      <a:endParaRPr lang="ko-KR" altLang="en-US" sz="2550" kern="120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04800" marB="0"/>
                </a:tc>
                <a:tc>
                  <a:txBody>
                    <a:bodyPr/>
                    <a:lstStyle/>
                    <a:p>
                      <a:pPr marL="224155" lvl="1" indent="0" algn="ctr">
                        <a:lnSpc>
                          <a:spcPct val="100000"/>
                        </a:lnSpc>
                        <a:spcBef>
                          <a:spcPct val="2465"/>
                        </a:spcBef>
                        <a:buFontTx/>
                        <a:buNone/>
                      </a:pPr>
                      <a:r>
                        <a:rPr sz="2550" kern="1200" spc="-2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필수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13055" marB="0"/>
                </a:tc>
                <a:tc>
                  <a:txBody>
                    <a:bodyPr/>
                    <a:lstStyle/>
                    <a:p>
                      <a:pPr marL="222885" lvl="1" indent="0" algn="ctr">
                        <a:lnSpc>
                          <a:spcPct val="100000"/>
                        </a:lnSpc>
                        <a:spcBef>
                          <a:spcPct val="2465"/>
                        </a:spcBef>
                        <a:buFontTx/>
                        <a:buNone/>
                      </a:pPr>
                      <a:r>
                        <a:rPr sz="2550" kern="120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대용량</a:t>
                      </a:r>
                      <a:r>
                        <a:rPr lang="en-US" sz="2550" kern="120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고속</a:t>
                      </a:r>
                      <a:r>
                        <a:rPr sz="2550" kern="1200" spc="-17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spc="-2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탐색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130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120">
                <a:tc>
                  <a:txBody>
                    <a:bodyPr/>
                    <a:lstStyle/>
                    <a:p>
                      <a:pPr marL="40005" lvl="1" indent="0" algn="ctr">
                        <a:lnSpc>
                          <a:spcPct val="100000"/>
                        </a:lnSpc>
                        <a:spcBef>
                          <a:spcPct val="2435"/>
                        </a:spcBef>
                        <a:buFontTx/>
                        <a:buNone/>
                      </a:pPr>
                      <a:r>
                        <a:rPr sz="2550" kern="1200" spc="-5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이진</a:t>
                      </a:r>
                      <a:r>
                        <a:rPr sz="2550" kern="1200" spc="-37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spc="-4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(재귀</a:t>
                      </a:r>
                      <a:r>
                        <a:rPr sz="2550" kern="1200" spc="-29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spc="-4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)</a:t>
                      </a:r>
                      <a:endParaRPr lang="ko-KR" altLang="en-US" sz="2550" kern="120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09245" marB="0"/>
                </a:tc>
                <a:tc>
                  <a:txBody>
                    <a:bodyPr/>
                    <a:lstStyle/>
                    <a:p>
                      <a:pPr marL="191135" lvl="1" indent="0" algn="ctr">
                        <a:lnSpc>
                          <a:spcPct val="100000"/>
                        </a:lnSpc>
                        <a:spcBef>
                          <a:spcPct val="2435"/>
                        </a:spcBef>
                        <a:buFontTx/>
                        <a:buNone/>
                      </a:pPr>
                      <a:r>
                        <a:rPr sz="2550" kern="1200" spc="-9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O(log</a:t>
                      </a:r>
                      <a:r>
                        <a:rPr sz="2550" kern="1200" spc="-57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spc="-2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n)</a:t>
                      </a:r>
                      <a:endParaRPr lang="ko-KR" altLang="en-US" sz="2550" kern="120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09245" marB="0"/>
                </a:tc>
                <a:tc>
                  <a:txBody>
                    <a:bodyPr/>
                    <a:lstStyle/>
                    <a:p>
                      <a:pPr marL="224155" lvl="1" indent="0" algn="ctr">
                        <a:lnSpc>
                          <a:spcPct val="100000"/>
                        </a:lnSpc>
                        <a:spcBef>
                          <a:spcPct val="2435"/>
                        </a:spcBef>
                        <a:buFontTx/>
                        <a:buNone/>
                      </a:pPr>
                      <a:r>
                        <a:rPr sz="2550" kern="1200" spc="-2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필수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09245" marB="0"/>
                </a:tc>
                <a:tc>
                  <a:txBody>
                    <a:bodyPr/>
                    <a:lstStyle/>
                    <a:p>
                      <a:pPr marL="252095" lvl="1" indent="0" algn="ctr">
                        <a:lnSpc>
                          <a:spcPct val="100000"/>
                        </a:lnSpc>
                        <a:spcBef>
                          <a:spcPct val="2435"/>
                        </a:spcBef>
                        <a:buFontTx/>
                        <a:buNone/>
                      </a:pPr>
                      <a:r>
                        <a:rPr sz="2550" kern="1200" spc="-13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논리적</a:t>
                      </a:r>
                      <a:r>
                        <a:rPr sz="2550" kern="1200" spc="-26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spc="-1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간결함</a:t>
                      </a:r>
                      <a:r>
                        <a:rPr lang="en-US" sz="2550" kern="1200" spc="-10" dirty="0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 </a:t>
                      </a:r>
                      <a:r>
                        <a:rPr sz="2550" kern="1200" spc="-10" dirty="0" err="1">
                          <a:solidFill>
                            <a:srgbClr val="000000"/>
                          </a:solidFill>
                          <a:latin typeface="Malgun Gothic" charset="0"/>
                          <a:cs typeface="Malgun Gothic" charset="0"/>
                        </a:rPr>
                        <a:t>중시</a:t>
                      </a:r>
                      <a:endParaRPr lang="ko-KR" altLang="en-US" sz="2550" kern="1200" dirty="0">
                        <a:solidFill>
                          <a:srgbClr val="000000"/>
                        </a:solidFill>
                        <a:latin typeface="Malgun Gothic" charset="0"/>
                        <a:cs typeface="Malgun Gothic" charset="0"/>
                      </a:endParaRPr>
                    </a:p>
                  </a:txBody>
                  <a:tcPr marL="0" marR="0" marT="3092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23610" y="4869180"/>
            <a:ext cx="8489315" cy="65151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34110" y="2152650"/>
            <a:ext cx="9399270" cy="923925"/>
          </a:xfrm>
          <a:prstGeom prst="rect">
            <a:avLst/>
          </a:prstGeom>
        </p:spPr>
        <p:txBody>
          <a:bodyPr vert="horz" wrap="square" lIns="0" tIns="1587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25"/>
              </a:spcBef>
              <a:buFontTx/>
              <a:buNone/>
            </a:pPr>
            <a:r>
              <a:rPr sz="5400" b="0" i="0" spc="-77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I  </a:t>
            </a:r>
            <a:r>
              <a:rPr sz="5900" spc="140"/>
              <a:t>데이터</a:t>
            </a:r>
            <a:r>
              <a:rPr sz="5900" spc="-990"/>
              <a:t> </a:t>
            </a:r>
            <a:r>
              <a:rPr sz="5900" spc="-820"/>
              <a:t>규모별</a:t>
            </a:r>
            <a:r>
              <a:rPr sz="5900" spc="-860"/>
              <a:t> </a:t>
            </a:r>
            <a:r>
              <a:rPr sz="5900" spc="-700"/>
              <a:t>탐색</a:t>
            </a:r>
            <a:r>
              <a:rPr sz="5900" spc="-1050"/>
              <a:t> </a:t>
            </a:r>
            <a:r>
              <a:rPr sz="5900" spc="-640"/>
              <a:t>성능</a:t>
            </a:r>
            <a:r>
              <a:rPr sz="5900" spc="-900"/>
              <a:t> </a:t>
            </a:r>
            <a:r>
              <a:rPr sz="5900" spc="-730"/>
              <a:t>추이</a:t>
            </a:r>
            <a:endParaRPr lang="ko-KR" altLang="en-US" sz="5900"/>
          </a:p>
        </p:txBody>
      </p:sp>
      <p:sp>
        <p:nvSpPr>
          <p:cNvPr id="8" name="object 8"/>
          <p:cNvSpPr txBox="1">
            <a:spLocks/>
          </p:cNvSpPr>
          <p:nvPr/>
        </p:nvSpPr>
        <p:spPr>
          <a:xfrm>
            <a:off x="3337560" y="4985385"/>
            <a:ext cx="2490470" cy="412750"/>
          </a:xfrm>
          <a:prstGeom prst="rect">
            <a:avLst/>
          </a:prstGeom>
        </p:spPr>
        <p:txBody>
          <a:bodyPr vert="horz" wrap="square" lIns="0" tIns="1206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95"/>
              </a:spcBef>
              <a:buFontTx/>
              <a:buNone/>
            </a:pPr>
            <a:r>
              <a:rPr sz="2600" spc="220">
                <a:latin typeface="Malgun Gothic" charset="0"/>
                <a:cs typeface="Malgun Gothic" charset="0"/>
              </a:rPr>
              <a:t>Linear</a:t>
            </a:r>
            <a:r>
              <a:rPr sz="2600" spc="-190">
                <a:latin typeface="Malgun Gothic" charset="0"/>
                <a:cs typeface="Malgun Gothic" charset="0"/>
              </a:rPr>
              <a:t> </a:t>
            </a:r>
            <a:r>
              <a:rPr sz="2600" spc="250">
                <a:latin typeface="Malgun Gothic" charset="0"/>
                <a:cs typeface="Malgun Gothic" charset="0"/>
              </a:rPr>
              <a:t>Search</a:t>
            </a:r>
            <a:endParaRPr lang="ko-KR" altLang="en-US" sz="2600">
              <a:latin typeface="Malgun Gothic" charset="0"/>
              <a:cs typeface="Malgun Gothic" charset="0"/>
            </a:endParaRPr>
          </a:p>
        </p:txBody>
      </p:sp>
      <p:sp>
        <p:nvSpPr>
          <p:cNvPr id="9" name="object 9"/>
          <p:cNvSpPr txBox="1">
            <a:spLocks/>
          </p:cNvSpPr>
          <p:nvPr/>
        </p:nvSpPr>
        <p:spPr>
          <a:xfrm>
            <a:off x="3268980" y="6001385"/>
            <a:ext cx="2466975" cy="413385"/>
          </a:xfrm>
          <a:prstGeom prst="rect">
            <a:avLst/>
          </a:prstGeom>
        </p:spPr>
        <p:txBody>
          <a:bodyPr vert="horz" wrap="square" lIns="0" tIns="12700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00"/>
              </a:spcBef>
              <a:buFontTx/>
              <a:buNone/>
            </a:pPr>
            <a:r>
              <a:rPr sz="2600" spc="130">
                <a:latin typeface="Malgun Gothic" charset="0"/>
                <a:cs typeface="Malgun Gothic" charset="0"/>
              </a:rPr>
              <a:t>Binary</a:t>
            </a:r>
            <a:r>
              <a:rPr sz="2600" spc="-220">
                <a:latin typeface="Malgun Gothic" charset="0"/>
                <a:cs typeface="Malgun Gothic" charset="0"/>
              </a:rPr>
              <a:t> </a:t>
            </a:r>
            <a:r>
              <a:rPr sz="2600" spc="130">
                <a:latin typeface="Malgun Gothic" charset="0"/>
                <a:cs typeface="Malgun Gothic" charset="0"/>
              </a:rPr>
              <a:t>Search</a:t>
            </a:r>
            <a:endParaRPr lang="ko-KR" altLang="en-US" sz="2600">
              <a:latin typeface="Malgun Gothic" charset="0"/>
              <a:cs typeface="Malgun Gothic" charset="0"/>
            </a:endParaRPr>
          </a:p>
        </p:txBody>
      </p:sp>
      <p:sp>
        <p:nvSpPr>
          <p:cNvPr id="10" name="object 10"/>
          <p:cNvSpPr txBox="1">
            <a:spLocks/>
          </p:cNvSpPr>
          <p:nvPr/>
        </p:nvSpPr>
        <p:spPr>
          <a:xfrm>
            <a:off x="2700655" y="8374380"/>
            <a:ext cx="14704060" cy="415290"/>
          </a:xfrm>
          <a:prstGeom prst="rect">
            <a:avLst/>
          </a:prstGeom>
        </p:spPr>
        <p:txBody>
          <a:bodyPr vert="horz" wrap="square" lIns="0" tIns="1460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14"/>
              </a:spcBef>
              <a:buFontTx/>
              <a:buNone/>
            </a:pPr>
            <a:r>
              <a:rPr sz="2600" b="0" i="0">
                <a:solidFill>
                  <a:srgbClr val="475569"/>
                </a:solidFill>
                <a:latin typeface="나눔고딕" charset="0"/>
                <a:ea typeface="나눔고딕" charset="0"/>
              </a:rPr>
              <a:t>학생 데이터가 10배 증가할 때, 이진 탐색의 비교 횟수는 단 몇 회만 증가하여 빠른 결과를 나타냅니다.</a:t>
            </a:r>
            <a:endParaRPr lang="ko-KR" altLang="en-US" sz="2600" b="0" i="0">
              <a:solidFill>
                <a:srgbClr val="475569"/>
              </a:solidFill>
              <a:latin typeface="나눔고딕" charset="0"/>
              <a:ea typeface="나눔고딕" charset="0"/>
            </a:endParaRPr>
          </a:p>
        </p:txBody>
      </p:sp>
      <p:sp>
        <p:nvSpPr>
          <p:cNvPr id="11" name="텍스트 상자 1"/>
          <p:cNvSpPr txBox="1">
            <a:spLocks/>
          </p:cNvSpPr>
          <p:nvPr/>
        </p:nvSpPr>
        <p:spPr>
          <a:xfrm>
            <a:off x="6659245" y="6476365"/>
            <a:ext cx="1696085" cy="67310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endParaRPr lang="ko-KR" altLang="en-US" sz="1800">
              <a:latin typeface="나눔고딕" charset="0"/>
              <a:ea typeface="나눔고딕" charset="0"/>
            </a:endParaRPr>
          </a:p>
        </p:txBody>
      </p:sp>
      <p:pic>
        <p:nvPicPr>
          <p:cNvPr id="12" name="그림 2" descr="/Users/wonjongchan/Library/Group Containers/L48J367XN4.com.infraware.PolarisOffice/EngineTemp/2758/image34.png"/>
          <p:cNvPicPr>
            <a:picLocks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19165" y="5910580"/>
            <a:ext cx="1565275" cy="6521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상자 3"/>
          <p:cNvSpPr txBox="1">
            <a:spLocks/>
          </p:cNvSpPr>
          <p:nvPr/>
        </p:nvSpPr>
        <p:spPr>
          <a:xfrm>
            <a:off x="1107440" y="1534795"/>
            <a:ext cx="19237325" cy="1000760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indent="0" algn="l" hangingPunct="1"/>
            <a:r>
              <a:rPr sz="5900" b="0" i="0" spc="-76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I   </a:t>
            </a:r>
            <a:r>
              <a:rPr sz="5900" dirty="0">
                <a:latin typeface="나눔고딕" charset="0"/>
                <a:ea typeface="나눔고딕" charset="0"/>
              </a:rPr>
              <a:t>1만명을 </a:t>
            </a:r>
            <a:r>
              <a:rPr sz="5900" dirty="0" err="1">
                <a:latin typeface="나눔고딕" charset="0"/>
                <a:ea typeface="나눔고딕" charset="0"/>
              </a:rPr>
              <a:t>기준으로</a:t>
            </a:r>
            <a:r>
              <a:rPr sz="5900" dirty="0">
                <a:latin typeface="나눔고딕" charset="0"/>
                <a:ea typeface="나눔고딕" charset="0"/>
              </a:rPr>
              <a:t> 한 </a:t>
            </a:r>
            <a:r>
              <a:rPr sz="5900" dirty="0" err="1">
                <a:latin typeface="나눔고딕" charset="0"/>
                <a:ea typeface="나눔고딕" charset="0"/>
              </a:rPr>
              <a:t>선형탐색과</a:t>
            </a:r>
            <a:r>
              <a:rPr sz="5900" dirty="0">
                <a:latin typeface="나눔고딕" charset="0"/>
                <a:ea typeface="나눔고딕" charset="0"/>
              </a:rPr>
              <a:t> </a:t>
            </a:r>
            <a:r>
              <a:rPr sz="5900" dirty="0" err="1">
                <a:latin typeface="나눔고딕" charset="0"/>
                <a:ea typeface="나눔고딕" charset="0"/>
              </a:rPr>
              <a:t>이진탐색</a:t>
            </a:r>
            <a:r>
              <a:rPr sz="5900" dirty="0">
                <a:latin typeface="나눔고딕" charset="0"/>
                <a:ea typeface="나눔고딕" charset="0"/>
              </a:rPr>
              <a:t> </a:t>
            </a:r>
            <a:r>
              <a:rPr sz="5900" dirty="0" err="1">
                <a:latin typeface="나눔고딕" charset="0"/>
                <a:ea typeface="나눔고딕" charset="0"/>
              </a:rPr>
              <a:t>비교</a:t>
            </a:r>
            <a:endParaRPr lang="ko-KR" altLang="en-US" sz="5900" dirty="0">
              <a:latin typeface="나눔고딕" charset="0"/>
              <a:ea typeface="나눔고딕" charset="0"/>
            </a:endParaRPr>
          </a:p>
        </p:txBody>
      </p:sp>
      <p:pic>
        <p:nvPicPr>
          <p:cNvPr id="3" name="그림 4" descr="/Users/wonjongchan/Library/Group Containers/L48J367XN4.com.infraware.PolarisOffice/EngineTemp/2758/fImage428341384857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40" y="4154805"/>
            <a:ext cx="11476990" cy="455231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6"/>
          <p:cNvSpPr txBox="1">
            <a:spLocks noGrp="1"/>
          </p:cNvSpPr>
          <p:nvPr>
            <p:ph type="title" idx="1"/>
          </p:nvPr>
        </p:nvSpPr>
        <p:spPr>
          <a:xfrm>
            <a:off x="1369059" y="2395855"/>
            <a:ext cx="14322425" cy="923971"/>
          </a:xfrm>
          <a:prstGeom prst="rect">
            <a:avLst/>
          </a:prstGeom>
        </p:spPr>
        <p:txBody>
          <a:bodyPr vert="horz" wrap="square" lIns="0" tIns="1587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25"/>
              </a:spcBef>
              <a:buFontTx/>
              <a:buNone/>
            </a:pPr>
            <a:r>
              <a:rPr sz="5400" b="0" i="0" spc="-76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I  </a:t>
            </a:r>
            <a:r>
              <a:rPr sz="5900" b="0" i="0" spc="22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팀</a:t>
            </a:r>
            <a:r>
              <a:rPr lang="en-US" sz="5900" spc="62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 </a:t>
            </a:r>
            <a:r>
              <a:rPr sz="5900" b="0" i="0" spc="-820" dirty="0" err="1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프로젝트</a:t>
            </a:r>
            <a:r>
              <a:rPr sz="5900" b="0" i="0" spc="-90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 </a:t>
            </a:r>
            <a:r>
              <a:rPr sz="5900" b="0" i="0" spc="-1220" dirty="0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 </a:t>
            </a:r>
            <a:r>
              <a:rPr sz="5900" b="0" i="0" spc="-680" dirty="0" err="1">
                <a:solidFill>
                  <a:schemeClr val="tx1"/>
                </a:solidFill>
                <a:latin typeface="Malgun Gothic" charset="0"/>
                <a:ea typeface="맑은 고딕" charset="0"/>
                <a:cs typeface="Malgun Gothic" charset="0"/>
              </a:rPr>
              <a:t>소감</a:t>
            </a:r>
            <a:endParaRPr lang="ko-KR" altLang="en-US" sz="5900" b="0" i="0" dirty="0">
              <a:solidFill>
                <a:schemeClr val="tx1"/>
              </a:solidFill>
              <a:latin typeface="Malgun Gothic" charset="0"/>
              <a:ea typeface="맑은 고딕" charset="0"/>
              <a:cs typeface="Malgun Gothic" charset="0"/>
            </a:endParaRPr>
          </a:p>
        </p:txBody>
      </p:sp>
      <p:sp>
        <p:nvSpPr>
          <p:cNvPr id="3" name="텍스트 상자 7"/>
          <p:cNvSpPr txBox="1">
            <a:spLocks/>
          </p:cNvSpPr>
          <p:nvPr/>
        </p:nvSpPr>
        <p:spPr>
          <a:xfrm>
            <a:off x="10900410" y="5072380"/>
            <a:ext cx="2983865" cy="368935"/>
          </a:xfrm>
          <a:prstGeom prst="rect">
            <a:avLst/>
          </a:prstGeom>
        </p:spPr>
        <p:txBody>
          <a:bodyPr vert="horz" wrap="square" lIns="0" tIns="1460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14"/>
              </a:spcBef>
              <a:buFontTx/>
              <a:buNone/>
            </a:pPr>
            <a:r>
              <a:rPr sz="2300">
                <a:latin typeface="Malgun Gothic" charset="0"/>
                <a:cs typeface="Malgun Gothic" charset="0"/>
              </a:rPr>
              <a:t>주예서</a:t>
            </a:r>
            <a:r>
              <a:rPr sz="2300" spc="-300">
                <a:latin typeface="Malgun Gothic" charset="0"/>
                <a:cs typeface="Malgun Gothic" charset="0"/>
              </a:rPr>
              <a:t> </a:t>
            </a:r>
            <a:r>
              <a:rPr sz="2300" spc="140">
                <a:latin typeface="Malgun Gothic" charset="0"/>
                <a:cs typeface="Malgun Gothic" charset="0"/>
              </a:rPr>
              <a:t>|</a:t>
            </a:r>
            <a:endParaRPr lang="ko-KR" altLang="en-US" sz="2300">
              <a:latin typeface="Malgun Gothic" charset="0"/>
              <a:cs typeface="Malgun Gothic" charset="0"/>
            </a:endParaRPr>
          </a:p>
        </p:txBody>
      </p:sp>
      <p:sp>
        <p:nvSpPr>
          <p:cNvPr id="4" name="텍스트 상자 8"/>
          <p:cNvSpPr txBox="1">
            <a:spLocks/>
          </p:cNvSpPr>
          <p:nvPr/>
        </p:nvSpPr>
        <p:spPr>
          <a:xfrm>
            <a:off x="1555115" y="5072380"/>
            <a:ext cx="2981960" cy="368935"/>
          </a:xfrm>
          <a:prstGeom prst="rect">
            <a:avLst/>
          </a:prstGeom>
        </p:spPr>
        <p:txBody>
          <a:bodyPr vert="horz" wrap="square" lIns="0" tIns="14605" rIns="0" bIns="0" numCol="1" anchor="t">
            <a:spAutoFit/>
          </a:bodyPr>
          <a:lstStyle/>
          <a:p>
            <a:pPr marL="12700" indent="0">
              <a:lnSpc>
                <a:spcPct val="100000"/>
              </a:lnSpc>
              <a:spcBef>
                <a:spcPts val="114"/>
              </a:spcBef>
              <a:buFontTx/>
              <a:buNone/>
            </a:pPr>
            <a:r>
              <a:rPr sz="2300" spc="-150">
                <a:latin typeface="Malgun Gothic" charset="0"/>
                <a:cs typeface="Malgun Gothic" charset="0"/>
              </a:rPr>
              <a:t>원종찬ｌ</a:t>
            </a:r>
            <a:endParaRPr lang="ko-KR" altLang="en-US" sz="2300">
              <a:latin typeface="Malgun Gothic" charset="0"/>
              <a:cs typeface="Malgun Gothic" charset="0"/>
            </a:endParaRPr>
          </a:p>
        </p:txBody>
      </p:sp>
      <p:sp>
        <p:nvSpPr>
          <p:cNvPr id="5" name="텍스트 상자 9"/>
          <p:cNvSpPr txBox="1">
            <a:spLocks/>
          </p:cNvSpPr>
          <p:nvPr/>
        </p:nvSpPr>
        <p:spPr>
          <a:xfrm>
            <a:off x="10899775" y="5732145"/>
            <a:ext cx="7517130" cy="2578100"/>
          </a:xfrm>
          <a:prstGeom prst="rect">
            <a:avLst/>
          </a:prstGeom>
        </p:spPr>
        <p:txBody>
          <a:bodyPr vert="horz" wrap="square" lIns="0" tIns="12065" rIns="0" bIns="0" numCol="1" anchor="t">
            <a:spAutoFit/>
          </a:bodyPr>
          <a:lstStyle/>
          <a:p>
            <a:pPr marL="0" indent="127000" algn="just" defTabSz="508000" latinLnBrk="1"/>
            <a:r>
              <a:rPr sz="2200"/>
              <a:t>수업 시간에 이론으로만 배우던 이진 탐색 트리를 C 언어로 직접 구현해 본 뜻깊은 시간이었습니다. 특히 트리에서 데이터를 삭제할 때 구조를 유지하는 과정이나, 재귀 함수를 활용해 트리를 다루면서 어렵게만 느껴졌던 개념들을 확실히 이해할 수 있었습니다. 마지막에 중위 순회를 통해 학생 데이터가 순서대로 정렬되어 출력되는 모습을 보며 자료구조의 실제 유용함과 가치를 깊이 체감했습니다.</a:t>
            </a:r>
            <a:endParaRPr lang="ko-KR" altLang="en-US" sz="2200">
              <a:latin typeface="Malgun Gothic" charset="0"/>
              <a:cs typeface="Malgun Gothic" charset="0"/>
            </a:endParaRPr>
          </a:p>
        </p:txBody>
      </p:sp>
      <p:sp>
        <p:nvSpPr>
          <p:cNvPr id="6" name="텍스트 상자 10"/>
          <p:cNvSpPr txBox="1">
            <a:spLocks/>
          </p:cNvSpPr>
          <p:nvPr/>
        </p:nvSpPr>
        <p:spPr>
          <a:xfrm>
            <a:off x="1557020" y="5746115"/>
            <a:ext cx="7536814" cy="2729230"/>
          </a:xfrm>
          <a:prstGeom prst="rect">
            <a:avLst/>
          </a:prstGeom>
        </p:spPr>
        <p:txBody>
          <a:bodyPr vert="horz" wrap="square" lIns="0" tIns="12065" rIns="0" bIns="0" numCol="1" anchor="t">
            <a:spAutoFit/>
          </a:bodyPr>
          <a:lstStyle/>
          <a:p>
            <a:pPr marL="0" indent="0" algn="l" defTabSz="508000" latinLnBrk="1"/>
            <a:r>
              <a:rPr sz="2200" dirty="0" err="1"/>
              <a:t>이번</a:t>
            </a:r>
            <a:r>
              <a:rPr sz="2200" dirty="0"/>
              <a:t> </a:t>
            </a:r>
            <a:r>
              <a:rPr sz="2200" dirty="0" err="1"/>
              <a:t>과제는</a:t>
            </a:r>
            <a:r>
              <a:rPr sz="2200" dirty="0"/>
              <a:t> </a:t>
            </a:r>
            <a:r>
              <a:rPr sz="2200" dirty="0" err="1"/>
              <a:t>다양한</a:t>
            </a:r>
            <a:r>
              <a:rPr sz="2200" dirty="0"/>
              <a:t> </a:t>
            </a:r>
            <a:r>
              <a:rPr sz="2200" dirty="0" err="1"/>
              <a:t>고급</a:t>
            </a:r>
            <a:r>
              <a:rPr sz="2200" dirty="0"/>
              <a:t> </a:t>
            </a:r>
            <a:r>
              <a:rPr sz="2200" dirty="0" err="1"/>
              <a:t>자료구조를</a:t>
            </a:r>
            <a:r>
              <a:rPr sz="2200" dirty="0"/>
              <a:t> </a:t>
            </a:r>
            <a:r>
              <a:rPr sz="2200" dirty="0" err="1"/>
              <a:t>유기적으로</a:t>
            </a:r>
            <a:r>
              <a:rPr sz="2200" dirty="0"/>
              <a:t> </a:t>
            </a:r>
            <a:r>
              <a:rPr sz="2200" dirty="0" err="1"/>
              <a:t>결합해</a:t>
            </a:r>
            <a:r>
              <a:rPr sz="2200" dirty="0"/>
              <a:t> </a:t>
            </a:r>
            <a:r>
              <a:rPr sz="2200" dirty="0" err="1"/>
              <a:t>보는</a:t>
            </a:r>
            <a:r>
              <a:rPr sz="2200" dirty="0"/>
              <a:t> </a:t>
            </a:r>
            <a:r>
              <a:rPr sz="2200" dirty="0" err="1"/>
              <a:t>도전적인</a:t>
            </a:r>
            <a:r>
              <a:rPr sz="2200" dirty="0"/>
              <a:t> </a:t>
            </a:r>
            <a:r>
              <a:rPr sz="2200" dirty="0" err="1"/>
              <a:t>경험이었습니다</a:t>
            </a:r>
            <a:r>
              <a:rPr sz="2200" dirty="0"/>
              <a:t>. </a:t>
            </a:r>
            <a:r>
              <a:rPr sz="2200" dirty="0" err="1"/>
              <a:t>초기</a:t>
            </a:r>
            <a:r>
              <a:rPr sz="2200" dirty="0"/>
              <a:t> </a:t>
            </a:r>
            <a:r>
              <a:rPr sz="2200" dirty="0" err="1"/>
              <a:t>설계</a:t>
            </a:r>
            <a:r>
              <a:rPr sz="2200" dirty="0"/>
              <a:t> </a:t>
            </a:r>
            <a:r>
              <a:rPr sz="2200" dirty="0" err="1"/>
              <a:t>단계에서</a:t>
            </a:r>
            <a:r>
              <a:rPr sz="2200" dirty="0"/>
              <a:t> </a:t>
            </a:r>
            <a:r>
              <a:rPr sz="2200" dirty="0" err="1"/>
              <a:t>요구사항</a:t>
            </a:r>
            <a:r>
              <a:rPr sz="2200" dirty="0"/>
              <a:t> </a:t>
            </a:r>
            <a:r>
              <a:rPr sz="2200" dirty="0" err="1"/>
              <a:t>파악</a:t>
            </a:r>
            <a:r>
              <a:rPr sz="2200" dirty="0"/>
              <a:t> </a:t>
            </a:r>
            <a:r>
              <a:rPr sz="2200" dirty="0" err="1"/>
              <a:t>미흡으로</a:t>
            </a:r>
            <a:r>
              <a:rPr sz="2200" dirty="0"/>
              <a:t> </a:t>
            </a:r>
            <a:r>
              <a:rPr sz="2200" dirty="0" err="1"/>
              <a:t>데이터</a:t>
            </a:r>
            <a:r>
              <a:rPr sz="2200" dirty="0"/>
              <a:t> </a:t>
            </a:r>
            <a:r>
              <a:rPr sz="2200" dirty="0" err="1"/>
              <a:t>포맷을</a:t>
            </a:r>
            <a:r>
              <a:rPr sz="2200" dirty="0"/>
              <a:t> </a:t>
            </a:r>
            <a:r>
              <a:rPr sz="2200" dirty="0" err="1"/>
              <a:t>수정하고</a:t>
            </a:r>
            <a:r>
              <a:rPr sz="2200" dirty="0"/>
              <a:t>, </a:t>
            </a:r>
            <a:r>
              <a:rPr sz="2200" dirty="0" err="1"/>
              <a:t>메뉴</a:t>
            </a:r>
            <a:r>
              <a:rPr sz="2200" dirty="0"/>
              <a:t> </a:t>
            </a:r>
            <a:r>
              <a:rPr sz="2200" dirty="0" err="1"/>
              <a:t>연동</a:t>
            </a:r>
            <a:r>
              <a:rPr sz="2200" dirty="0"/>
              <a:t> </a:t>
            </a:r>
            <a:r>
              <a:rPr sz="2200" dirty="0" err="1"/>
              <a:t>과정에서</a:t>
            </a:r>
            <a:r>
              <a:rPr sz="2200" dirty="0"/>
              <a:t> </a:t>
            </a:r>
            <a:r>
              <a:rPr sz="2200" dirty="0" err="1"/>
              <a:t>예외</a:t>
            </a:r>
            <a:r>
              <a:rPr sz="2200" dirty="0"/>
              <a:t> </a:t>
            </a:r>
            <a:r>
              <a:rPr sz="2200" dirty="0" err="1"/>
              <a:t>상황을</a:t>
            </a:r>
            <a:r>
              <a:rPr sz="2200" dirty="0"/>
              <a:t> </a:t>
            </a:r>
            <a:r>
              <a:rPr sz="2200" dirty="0" err="1"/>
              <a:t>마주하는</a:t>
            </a:r>
            <a:r>
              <a:rPr sz="2200" dirty="0"/>
              <a:t> 등 </a:t>
            </a:r>
            <a:r>
              <a:rPr sz="2200" dirty="0" err="1"/>
              <a:t>많은</a:t>
            </a:r>
            <a:r>
              <a:rPr sz="2200" dirty="0"/>
              <a:t> </a:t>
            </a:r>
            <a:r>
              <a:rPr sz="2200" dirty="0" err="1"/>
              <a:t>고민이</a:t>
            </a:r>
            <a:r>
              <a:rPr sz="2200" dirty="0"/>
              <a:t> </a:t>
            </a:r>
            <a:r>
              <a:rPr sz="2200" dirty="0" err="1"/>
              <a:t>필요했습니다</a:t>
            </a:r>
            <a:r>
              <a:rPr sz="2200" dirty="0"/>
              <a:t>. </a:t>
            </a:r>
            <a:r>
              <a:rPr sz="2200" dirty="0" err="1"/>
              <a:t>하지만</a:t>
            </a:r>
            <a:r>
              <a:rPr sz="2200" dirty="0"/>
              <a:t> </a:t>
            </a:r>
            <a:r>
              <a:rPr sz="2200" dirty="0" err="1"/>
              <a:t>이를</a:t>
            </a:r>
            <a:r>
              <a:rPr sz="2200" dirty="0"/>
              <a:t> </a:t>
            </a:r>
            <a:r>
              <a:rPr sz="2200" dirty="0" err="1"/>
              <a:t>극복하며</a:t>
            </a:r>
            <a:r>
              <a:rPr sz="2200" dirty="0"/>
              <a:t> </a:t>
            </a:r>
            <a:r>
              <a:rPr sz="2200" dirty="0" err="1"/>
              <a:t>설계</a:t>
            </a:r>
            <a:r>
              <a:rPr sz="2200" dirty="0"/>
              <a:t> </a:t>
            </a:r>
            <a:r>
              <a:rPr sz="2200" dirty="0" err="1"/>
              <a:t>역량을</a:t>
            </a:r>
            <a:r>
              <a:rPr sz="2200" dirty="0"/>
              <a:t> </a:t>
            </a:r>
            <a:r>
              <a:rPr sz="2200" dirty="0" err="1"/>
              <a:t>한층</a:t>
            </a:r>
            <a:r>
              <a:rPr sz="2200" dirty="0"/>
              <a:t> </a:t>
            </a:r>
            <a:r>
              <a:rPr sz="2200" dirty="0" err="1"/>
              <a:t>키울</a:t>
            </a:r>
            <a:r>
              <a:rPr sz="2200" dirty="0"/>
              <a:t> 수 </a:t>
            </a:r>
            <a:r>
              <a:rPr sz="2200" dirty="0" err="1"/>
              <a:t>있었습니다</a:t>
            </a:r>
            <a:r>
              <a:rPr sz="2200" dirty="0"/>
              <a:t>.</a:t>
            </a:r>
            <a:endParaRPr lang="ko-KR" altLang="en-US" sz="2800" dirty="0">
              <a:solidFill>
                <a:srgbClr val="000000"/>
              </a:solidFill>
              <a:latin typeface="Helvetica Neue" charset="0"/>
              <a:ea typeface="Helvetica Neue" charset="0"/>
              <a:sym typeface="맑은 고딕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0CDC2-31DB-35A8-51AD-646F2658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/Users/wonjongchan/Library/Group Containers/L48J367XN4.com.infraware.PolarisOffice/EngineTemp/6689/fImage32151864189.png">
            <a:extLst>
              <a:ext uri="{FF2B5EF4-FFF2-40B4-BE49-F238E27FC236}">
                <a16:creationId xmlns:a16="http://schemas.microsoft.com/office/drawing/2014/main" id="{E0AD42A9-D7A9-D645-CB39-07CFD7A23CA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990" y="3521710"/>
            <a:ext cx="1378585" cy="222885"/>
          </a:xfrm>
          <a:prstGeom prst="rect">
            <a:avLst/>
          </a:prstGeom>
          <a:noFill/>
        </p:spPr>
      </p:pic>
      <p:sp>
        <p:nvSpPr>
          <p:cNvPr id="4" name="텍스트 상자 3">
            <a:extLst>
              <a:ext uri="{FF2B5EF4-FFF2-40B4-BE49-F238E27FC236}">
                <a16:creationId xmlns:a16="http://schemas.microsoft.com/office/drawing/2014/main" id="{734C9F60-1D99-395D-C270-36026F28F879}"/>
              </a:ext>
            </a:extLst>
          </p:cNvPr>
          <p:cNvSpPr txBox="1">
            <a:spLocks/>
          </p:cNvSpPr>
          <p:nvPr/>
        </p:nvSpPr>
        <p:spPr>
          <a:xfrm>
            <a:off x="4290060" y="4508500"/>
            <a:ext cx="11691620" cy="1631315"/>
          </a:xfrm>
          <a:prstGeom prst="rect">
            <a:avLst/>
          </a:prstGeom>
          <a:noFill/>
          <a:ln>
            <a:noFill/>
            <a:prstDash/>
          </a:ln>
        </p:spPr>
        <p:txBody>
          <a:bodyPr vert="horz" wrap="square" lIns="89535" tIns="46355" rIns="89535" bIns="46355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0" b="1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나눔명조 에코" charset="0"/>
                <a:ea typeface="나눔명조 에코" charset="0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70452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Pages>10</Pages>
  <Words>474</Words>
  <Characters>0</Characters>
  <Application>Microsoft Office PowerPoint</Application>
  <DocSecurity>0</DocSecurity>
  <PresentationFormat>사용자 지정</PresentationFormat>
  <Lines>0</Lines>
  <Paragraphs>64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8" baseType="lpstr">
      <vt:lpstr>Helvetica Neue</vt:lpstr>
      <vt:lpstr>나눔고딕</vt:lpstr>
      <vt:lpstr>나눔명조 에코</vt:lpstr>
      <vt:lpstr>Malgun Gothic</vt:lpstr>
      <vt:lpstr>Calibri</vt:lpstr>
      <vt:lpstr>Office Theme</vt:lpstr>
      <vt:lpstr>BST 학생 정보 관리 시스템</vt:lpstr>
      <vt:lpstr>I 01 프로젝트 목표</vt:lpstr>
      <vt:lpstr>I 02 자료구조 설계</vt:lpstr>
      <vt:lpstr>PowerPoint 프레젠테이션</vt:lpstr>
      <vt:lpstr>I  순차 탐색: Linear Search</vt:lpstr>
      <vt:lpstr>I  반복문 기반 이진 탐색</vt:lpstr>
      <vt:lpstr>I  재귀적 분할　정복 탐색</vt:lpstr>
      <vt:lpstr>I  알고리즘 특성 비교 분석</vt:lpstr>
      <vt:lpstr>I  데이터 규모별 탐색 성능 추이</vt:lpstr>
      <vt:lpstr>PowerPoint 프레젠테이션</vt:lpstr>
      <vt:lpstr>I  팀 프로젝트  소감</vt:lpstr>
      <vt:lpstr>PowerPoint 프레젠테이션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예서 주</cp:lastModifiedBy>
  <cp:revision>13</cp:revision>
  <dcterms:modified xsi:type="dcterms:W3CDTF">2026-06-10T01:00:14Z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2026-06-08T00:00:00Z</vt:filetime>
  </property>
  <property fmtid="{D5CDD505-2E9C-101B-9397-08002B2CF9AE}" pid="4" name="Creator">
    <vt:lpwstr>PDFium</vt:lpwstr>
  </property>
  <property fmtid="{D5CDD505-2E9C-101B-9397-08002B2CF9AE}" pid="5" name="Producer">
    <vt:lpwstr>PDFium</vt:lpwstr>
  </property>
  <property fmtid="{D5CDD505-2E9C-101B-9397-08002B2CF9AE}" pid="6" name="LastSaved">
    <vt:filetime>2026-06-08T00:00:00Z</vt:filetime>
  </property>
</Properties>
</file>